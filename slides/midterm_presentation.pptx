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e63dfa9a26431d" /><Relationship Type="http://schemas.openxmlformats.org/officeDocument/2006/relationships/extended-properties" Target="/docProps/app.xml" Id="Rdbf9bc96223640ed" /><Relationship Type="http://schemas.openxmlformats.org/officeDocument/2006/relationships/officeDocument" Target="/ppt/presentation.xml" Id="R11c00aeabf894a3b" /></Relationships>
</file>

<file path=ppt/presentation.xml><?xml version="1.0" encoding="utf-8"?>
<p:presentation xmlns:p="http://schemas.openxmlformats.org/presentationml/2006/main">
  <p:sldMasterIdLst>
    <p:sldMasterId xmlns:r="http://schemas.openxmlformats.org/officeDocument/2006/relationships" id="2147483648" r:id="R00845313f5ad4c11"/>
  </p:sldMasterIdLst>
  <p:notesMasterIdLst>
    <p:notesMasterId xmlns:r="http://schemas.openxmlformats.org/officeDocument/2006/relationships" r:id="Rbc8811eb9bfb4b70"/>
  </p:notesMasterIdLst>
  <p:sldIdLst>
    <p:sldId xmlns:r="http://schemas.openxmlformats.org/officeDocument/2006/relationships" id="256" r:id="Rf7482cf79093423c"/>
    <p:sldId xmlns:r="http://schemas.openxmlformats.org/officeDocument/2006/relationships" id="257" r:id="Rc6df47c380c5495d"/>
    <p:sldId xmlns:r="http://schemas.openxmlformats.org/officeDocument/2006/relationships" id="258" r:id="Rec3728e65ac849fb"/>
    <p:sldId xmlns:r="http://schemas.openxmlformats.org/officeDocument/2006/relationships" id="259" r:id="Rcd7932a5940b480f"/>
    <p:sldId xmlns:r="http://schemas.openxmlformats.org/officeDocument/2006/relationships" id="260" r:id="Rc029af23b3574b05"/>
    <p:sldId xmlns:r="http://schemas.openxmlformats.org/officeDocument/2006/relationships" id="261" r:id="R47297e17ce7d43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9fa90e490347bf" /><Relationship Type="http://schemas.openxmlformats.org/officeDocument/2006/relationships/slideMaster" Target="/ppt/slideMasters/slideMaster1.xml" Id="R00845313f5ad4c11" /><Relationship Type="http://schemas.openxmlformats.org/officeDocument/2006/relationships/notesMaster" Target="/ppt/notesMasters/notesMaster1.xml" Id="Rbc8811eb9bfb4b70" /><Relationship Type="http://schemas.openxmlformats.org/officeDocument/2006/relationships/presProps" Target="/ppt/presProps.xml" Id="R8f370ccaa10447fa" /><Relationship Type="http://schemas.openxmlformats.org/officeDocument/2006/relationships/tableStyles" Target="/ppt/tableStyles.xml" Id="R894f720c8d914424" /><Relationship Type="http://schemas.openxmlformats.org/officeDocument/2006/relationships/slide" Target="/ppt/slides/slide1.xml" Id="Rf7482cf79093423c" /><Relationship Type="http://schemas.openxmlformats.org/officeDocument/2006/relationships/slide" Target="/ppt/slides/slide2.xml" Id="Rc6df47c380c5495d" /><Relationship Type="http://schemas.openxmlformats.org/officeDocument/2006/relationships/slide" Target="/ppt/slides/slide3.xml" Id="Rec3728e65ac849fb" /><Relationship Type="http://schemas.openxmlformats.org/officeDocument/2006/relationships/slide" Target="/ppt/slides/slide4.xml" Id="Rcd7932a5940b480f" /><Relationship Type="http://schemas.openxmlformats.org/officeDocument/2006/relationships/slide" Target="/ppt/slides/slide5.xml" Id="Rc029af23b3574b05" /><Relationship Type="http://schemas.openxmlformats.org/officeDocument/2006/relationships/slide" Target="/ppt/slides/slide6.xml" Id="R47297e17ce7d43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3a385f1bf740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9b014f323c4fe9" /><Relationship Type="http://schemas.openxmlformats.org/officeDocument/2006/relationships/notesMaster" Target="/ppt/notesMasters/notesMaster1.xml" Id="R8683f569927a43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43c08e9bf54645" /><Relationship Type="http://schemas.openxmlformats.org/officeDocument/2006/relationships/notesMaster" Target="/ppt/notesMasters/notesMaster1.xml" Id="R3d554926dfad4d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d87c3ab0d04c6d" /><Relationship Type="http://schemas.openxmlformats.org/officeDocument/2006/relationships/notesMaster" Target="/ppt/notesMasters/notesMaster1.xml" Id="R016d67d148984e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a24457a5424370" /><Relationship Type="http://schemas.openxmlformats.org/officeDocument/2006/relationships/notesMaster" Target="/ppt/notesMasters/notesMaster1.xml" Id="Rb3a8e429b9e548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ca6cd532aa417a" /><Relationship Type="http://schemas.openxmlformats.org/officeDocument/2006/relationships/notesMaster" Target="/ppt/notesMasters/notesMaster1.xml" Id="R7224d8e56be74c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e308846f0d4aa5" /><Relationship Type="http://schemas.openxmlformats.org/officeDocument/2006/relationships/notesMaster" Target="/ppt/notesMasters/notesMaster1.xml" Id="Rc877f3e4211e47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asks whether pretrained text representations preserve useful information about negation and uncertainty. Consider three sentences: the patient has pneumonia, has no pneumonia, and may have pneumonia. Their vocabulary is almost identical, but their meanings differ. We use frozen language models to produce vectors, then train simple classifiers on those vectors. This connects the application to Project P and the standard machine learning methods covered in class.</a:t>
            </a:r>
          </a:p>
          <a:p xmlns:a="http://schemas.openxmlformats.org/drawingml/2006/main">
            <a:r>
              <a:t/>
            </a:r>
          </a:p>
          <a:p xmlns:a="http://schemas.openxmlformats.org/drawingml/2006/main">
            <a:r>
              <a:t>Sources and scope:</a:t>
            </a:r>
          </a:p>
          <a:p xmlns:a="http://schemas.openxmlformats.org/drawingml/2006/main">
            <a:r>
              <a:t>Motivating sentences are authored examples, not benchmark observations. BERT: https://aclanthology.org/N19-1423/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broad questions concern semantic information, sample efficiency, and terminology generalization. We checked the actual BioScope annotations before defining the pilot. They mark negation and speculation cues and their scopes, rather than disease-specific assertion labels. Our current classes are no cue, negation only, and speculation only. We exclude sentences containing both types. Therefore, this experiment tests cue presence in biomedical abstracts. Target-specific clinical assertion remains an extension.</a:t>
            </a:r>
          </a:p>
          <a:p xmlns:a="http://schemas.openxmlformats.org/drawingml/2006/main">
            <a:r>
              <a:t/>
            </a:r>
          </a:p>
          <a:p xmlns:a="http://schemas.openxmlformats.org/drawingml/2006/main">
            <a:r>
              <a:t>Sources and scope:</a:t>
            </a:r>
          </a:p>
          <a:p xmlns:a="http://schemas.openxmlformats.org/drawingml/2006/main">
            <a:r>
              <a:t>BioScope official annotations: https://rgai.inf.u-szeged.hu/node/105 ; data audit: results/metrics/pilot_data_audit.json. Sentence labels are annotation-derived cue presence.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parsed eleven thousand eight hundred seventy-one sentences from the official XML. After removing mixed-cue sentences and duplicates, eleven thousand five hundred fifty-nine remain. We separate document groups before selecting a pilot with fifteen hundred training sentences, four hundred validation sentences, and six hundred test sentences. We compare TF-IDF with BERT, BioBERT, and PubMedBERT. All encoders stay frozen. We fit logistic regression, and also a TF-IDF linear SVM. Hyperparameters use validation data only. The different methods receive identical labeled training examples.</a:t>
            </a:r>
          </a:p>
          <a:p xmlns:a="http://schemas.openxmlformats.org/drawingml/2006/main">
            <a:r>
              <a:t/>
            </a:r>
          </a:p>
          <a:p xmlns:a="http://schemas.openxmlformats.org/drawingml/2006/main">
            <a:r>
              <a:t>Sources and scope:</a:t>
            </a:r>
          </a:p>
          <a:p xmlns:a="http://schemas.openxmlformats.org/drawingml/2006/main">
            <a:r>
              <a:t>Code: src/data_loader.py, src/feature_extraction.py, src/classifiers.py. Checkpoint revisions: configs/models.json. BioBERT: https://doi.org/10.1093/bioinformatics/btz682 ; PubMedBERT: https://doi.org/10.1145/3458754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completed all five methods at four balanced training budgets and the full pilot pool, using three sampling seeds. The code saves model revisions, predictions, metrics, and learning curves. At one hundred training examples per class, BioBERT + LR reaches 67.8 percent mean macro-F1. With the full training pool, TF-IDF + SVM reaches 84.3 percent. The table reports the complete comparison. These are preliminary results on one fixed test set. The full pool also has different class proportions, so the change is not solely a sample-size effect.</a:t>
            </a:r>
          </a:p>
          <a:p xmlns:a="http://schemas.openxmlformats.org/drawingml/2006/main">
            <a:r>
              <a:t/>
            </a:r>
          </a:p>
          <a:p xmlns:a="http://schemas.openxmlformats.org/drawingml/2006/main">
            <a:r>
              <a:t>Sources and scope:</a:t>
            </a:r>
          </a:p>
          <a:p xmlns:a="http://schemas.openxmlformats.org/drawingml/2006/main">
            <a:r>
              <a:t>Measured results: results/metrics/pilot/summary.csv and individual run/prediction JSON. Integrity audit checked all 75 evaluations. Fixed test N=600, validation N=400. Full pool changes class distribution and is excluded from balanced learning-curve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several limits to the interpretation. A model may identify cue words without resolving their scope. The majority class has no annotated cue, so we report macro-F1 and per-class recall. Our low-data budgets count training labels, while every run also uses four hundred validation labels. The standard deviations measure training-subset variation, not uncertainty across independent test sets. Finally, biomedical pretraining may already include some source abstracts, and disease-level labels are still missing.</a:t>
            </a:r>
          </a:p>
          <a:p xmlns:a="http://schemas.openxmlformats.org/drawingml/2006/main">
            <a:r>
              <a:t/>
            </a:r>
          </a:p>
          <a:p xmlns:a="http://schemas.openxmlformats.org/drawingml/2006/main">
            <a:r>
              <a:t>Sources and scope:</a:t>
            </a:r>
          </a:p>
          <a:p xmlns:a="http://schemas.openxmlformats.org/drawingml/2006/main">
            <a:r>
              <a:t>Limitations from actual task/protocol. BioScope: https://rgai.inf.u-szeged.hu/node/105 . Potential pretraining overlap is not ruled out by document-group downstream splitting.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will expand to the uncapped corpus and analyze errors by cue family. We will consider two binary labels so that mixed-cue sentences can remain in the task. Our small authored sentence pairs provide qualitative diagnostics, not benchmark results. With reliable target annotations, we can then test span pooling and unseen disease generalization. Our aim is to establish when pretrained representations help, and to describe the conditions where simpler features remain competitive.</a:t>
            </a:r>
          </a:p>
          <a:p xmlns:a="http://schemas.openxmlformats.org/drawingml/2006/main">
            <a:r>
              <a:t/>
            </a:r>
          </a:p>
          <a:p xmlns:a="http://schemas.openxmlformats.org/drawingml/2006/main">
            <a:r>
              <a:t>Sources and scope:</a:t>
            </a:r>
          </a:p>
          <a:p xmlns:a="http://schemas.openxmlformats.org/drawingml/2006/main">
            <a:r>
              <a:t>Future work only. SemEval target annotations and access requirements: https://physionet.org/content/semeval2015/2.0/ . Synthetic diagnostics: data/minimal_pairs_demo.json.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d548f4846846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c8aa585587c442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72b7f84a55948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5fb6a837e2345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b9c0be7c3b24b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b4d8477d824b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F977C0-4FC3-43BC-AB32-9B3C4BB9F30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CF812D-BBE4-4178-A248-8D399523620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D7AD551-66E6-460F-985E-702539AF976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4434FE-9FC2-4A22-91A1-3BF6847850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52A101F-AE03-482A-9CEE-7F56DB4C67F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383C9DB-4BB2-43DE-9B9D-FC749D8798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F1029B-D206-4F8C-B9FC-A7236C1080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6A5E5D5-046F-4917-96D1-15A9E9146C6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31711A-D7D5-486D-BAE2-12AF91ECF7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B8FCB1-1D99-4AF7-B9C2-77169C0461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c27a0b06024147" /><Relationship Type="http://schemas.openxmlformats.org/officeDocument/2006/relationships/slideLayout" Target="/ppt/slideLayouts/slideLayout1.xml" Id="R334816e4093a4b4e" /><Relationship Type="http://schemas.openxmlformats.org/officeDocument/2006/relationships/slideLayout" Target="/ppt/slideLayouts/slideLayout2.xml" Id="Rfaa98bf784a74ebd" /><Relationship Type="http://schemas.openxmlformats.org/officeDocument/2006/relationships/slideLayout" Target="/ppt/slideLayouts/slideLayout3.xml" Id="R004d9de1dffe49af" /><Relationship Type="http://schemas.openxmlformats.org/officeDocument/2006/relationships/slideLayout" Target="/ppt/slideLayouts/slideLayout4.xml" Id="R74c18c18e6d44ee6" /><Relationship Type="http://schemas.openxmlformats.org/officeDocument/2006/relationships/slideLayout" Target="/ppt/slideLayouts/slideLayout5.xml" Id="Rd75104c51b5b4f7f" /><Relationship Type="http://schemas.openxmlformats.org/officeDocument/2006/relationships/slideLayout" Target="/ppt/slideLayouts/slideLayout6.xml" Id="R3a3407c3851843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4816e4093a4b4e"/>
    <p:sldLayoutId xmlns:r="http://schemas.openxmlformats.org/officeDocument/2006/relationships" id="2147483650" r:id="Rfaa98bf784a74ebd"/>
    <p:sldLayoutId xmlns:r="http://schemas.openxmlformats.org/officeDocument/2006/relationships" id="2147483651" r:id="R004d9de1dffe49af"/>
    <p:sldLayoutId xmlns:r="http://schemas.openxmlformats.org/officeDocument/2006/relationships" id="2147483652" r:id="R74c18c18e6d44ee6"/>
    <p:sldLayoutId xmlns:r="http://schemas.openxmlformats.org/officeDocument/2006/relationships" id="2147483653" r:id="Rd75104c51b5b4f7f"/>
    <p:sldLayoutId xmlns:r="http://schemas.openxmlformats.org/officeDocument/2006/relationships" id="2147483654" r:id="R3a3407c3851843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0d521ee59e84da7" /><Relationship Type="http://schemas.openxmlformats.org/officeDocument/2006/relationships/notesSlide" Target="/ppt/notesSlides/notesSlide1.xml" Id="Rf3cdddb2c84e40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2d2b9dacb0b4596" /><Relationship Type="http://schemas.openxmlformats.org/officeDocument/2006/relationships/notesSlide" Target="/ppt/notesSlides/notesSlide2.xml" Id="Rca5fe977688e4b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770710ae0484e4d" /><Relationship Type="http://schemas.openxmlformats.org/officeDocument/2006/relationships/notesSlide" Target="/ppt/notesSlides/notesSlide3.xml" Id="R439ad2ee95a44e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7a1f5313874260" /><Relationship Type="http://schemas.openxmlformats.org/officeDocument/2006/relationships/notesSlide" Target="/ppt/notesSlides/notesSlide4.xml" Id="R5d803dd5d14b4e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35682c2511f4819" /><Relationship Type="http://schemas.openxmlformats.org/officeDocument/2006/relationships/notesSlide" Target="/ppt/notesSlides/notesSlide5.xml" Id="R166ce023acce4b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985ff42a4a84bad" /><Relationship Type="http://schemas.openxmlformats.org/officeDocument/2006/relationships/notesSlide" Target="/ppt/notesSlides/notesSlide6.xml" Id="R3a08b6e55bb84e3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8918D5-34C8-4E78-9108-D328F38A3185}"/>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300" b="1">
                <a:solidFill>
                  <a:srgbClr val="163139"/>
                </a:solidFill>
                <a:latin typeface="Arial"/>
                <a:ea typeface="Arial"/>
                <a:cs typeface="Arial"/>
              </a:defRPr>
            </a:defPPr>
            <a:lvl1pPr algn="l">
              <a:defRPr sz="3300" b="1">
                <a:solidFill>
                  <a:srgbClr val="163139"/>
                </a:solidFill>
                <a:latin typeface="Arial"/>
                <a:ea typeface="Arial"/>
                <a:cs typeface="Arial"/>
              </a:defRPr>
            </a:lvl1pPr>
            <a:lvl2pPr algn="l">
              <a:defRPr sz="3300" b="1">
                <a:solidFill>
                  <a:srgbClr val="163139"/>
                </a:solidFill>
                <a:latin typeface="Arial"/>
                <a:ea typeface="Arial"/>
                <a:cs typeface="Arial"/>
              </a:defRPr>
            </a:lvl2pPr>
            <a:lvl3pPr algn="l">
              <a:defRPr sz="3300" b="1">
                <a:solidFill>
                  <a:srgbClr val="163139"/>
                </a:solidFill>
                <a:latin typeface="Arial"/>
                <a:ea typeface="Arial"/>
                <a:cs typeface="Arial"/>
              </a:defRPr>
            </a:lvl3pPr>
            <a:lvl4pPr algn="l">
              <a:defRPr sz="3300" b="1">
                <a:solidFill>
                  <a:srgbClr val="163139"/>
                </a:solidFill>
                <a:latin typeface="Arial"/>
                <a:ea typeface="Arial"/>
                <a:cs typeface="Arial"/>
              </a:defRPr>
            </a:lvl4pPr>
            <a:lvl5pPr algn="l">
              <a:defRPr sz="3300" b="1">
                <a:solidFill>
                  <a:srgbClr val="163139"/>
                </a:solidFill>
                <a:latin typeface="Arial"/>
                <a:ea typeface="Arial"/>
                <a:cs typeface="Arial"/>
              </a:defRPr>
            </a:lvl5pPr>
            <a:lvl6pPr algn="l">
              <a:defRPr sz="3300" b="1">
                <a:solidFill>
                  <a:srgbClr val="163139"/>
                </a:solidFill>
                <a:latin typeface="Arial"/>
                <a:ea typeface="Arial"/>
                <a:cs typeface="Arial"/>
              </a:defRPr>
            </a:lvl6pPr>
            <a:lvl7pPr algn="l">
              <a:defRPr sz="3300" b="1">
                <a:solidFill>
                  <a:srgbClr val="163139"/>
                </a:solidFill>
                <a:latin typeface="Arial"/>
                <a:ea typeface="Arial"/>
                <a:cs typeface="Arial"/>
              </a:defRPr>
            </a:lvl7pPr>
            <a:lvl8pPr algn="l">
              <a:defRPr sz="3300" b="1">
                <a:solidFill>
                  <a:srgbClr val="163139"/>
                </a:solidFill>
                <a:latin typeface="Arial"/>
                <a:ea typeface="Arial"/>
                <a:cs typeface="Arial"/>
              </a:defRPr>
            </a:lvl8pPr>
            <a:lvl9pPr algn="l">
              <a:defRPr sz="3300" b="1">
                <a:solidFill>
                  <a:srgbClr val="163139"/>
                </a:solidFill>
                <a:latin typeface="Arial"/>
                <a:ea typeface="Arial"/>
                <a:cs typeface="Arial"/>
              </a:defRPr>
            </a:lvl9pPr>
          </a:lstStyle>
          <a:p xmlns:a="http://schemas.openxmlformats.org/drawingml/2006/main">
            <a:pPr algn="l">
              <a:defRPr sz="3300" b="1">
                <a:solidFill>
                  <a:srgbClr val="163139"/>
                </a:solidFill>
                <a:latin typeface="Arial"/>
                <a:ea typeface="Arial"/>
                <a:cs typeface="Arial"/>
              </a:defRPr>
            </a:pPr>
            <a:r>
              <a:rPr sz="3300" b="1">
                <a:solidFill>
                  <a:srgbClr val="163139"/>
                </a:solidFill>
                <a:latin typeface="Arial"/>
                <a:ea typeface="Arial"/>
                <a:cs typeface="Arial"/>
              </a:rPr>
              <a:t>Probing clinical meaning</a:t>
            </a:r>
          </a:p>
        </p:txBody>
      </p:sp>
      <p:sp>
        <p:nvSpPr>
          <p:cNvPr id="2" name="">
            <a:extLst xmlns:a="http://schemas.openxmlformats.org/drawingml/2006/main">
              <a:ext uri="{FF2B5EF4-FFF2-40B4-BE49-F238E27FC236}">
                <a16:creationId xmlns:a16="http://schemas.microsoft.com/office/drawing/2014/main" id="{55851244-0C18-4772-8BB9-45A8C50E4D7C}"/>
              </a:ext>
            </a:extLst>
          </p:cNvPr>
          <p:cNvSpPr>
            <a:spLocks xmlns:a="http://schemas.openxmlformats.org/drawingml/2006/main" noGrp="1"/>
          </p:cNvSpPr>
          <p:nvPr/>
        </p:nvSpPr>
        <p:spPr>
          <a:xfrm xmlns:a="http://schemas.openxmlformats.org/drawingml/2006/main">
            <a:off x="10810875" y="640080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275" b="0">
                <a:solidFill>
                  <a:srgbClr val="52666D"/>
                </a:solidFill>
                <a:latin typeface="Arial"/>
                <a:ea typeface="Arial"/>
                <a:cs typeface="Arial"/>
              </a:defRPr>
            </a:defPPr>
            <a:lvl1pPr algn="r">
              <a:defRPr sz="1275" b="0">
                <a:solidFill>
                  <a:srgbClr val="52666D"/>
                </a:solidFill>
                <a:latin typeface="Arial"/>
                <a:ea typeface="Arial"/>
                <a:cs typeface="Arial"/>
              </a:defRPr>
            </a:lvl1pPr>
            <a:lvl2pPr algn="r">
              <a:defRPr sz="1275" b="0">
                <a:solidFill>
                  <a:srgbClr val="52666D"/>
                </a:solidFill>
                <a:latin typeface="Arial"/>
                <a:ea typeface="Arial"/>
                <a:cs typeface="Arial"/>
              </a:defRPr>
            </a:lvl2pPr>
            <a:lvl3pPr algn="r">
              <a:defRPr sz="1275" b="0">
                <a:solidFill>
                  <a:srgbClr val="52666D"/>
                </a:solidFill>
                <a:latin typeface="Arial"/>
                <a:ea typeface="Arial"/>
                <a:cs typeface="Arial"/>
              </a:defRPr>
            </a:lvl3pPr>
            <a:lvl4pPr algn="r">
              <a:defRPr sz="1275" b="0">
                <a:solidFill>
                  <a:srgbClr val="52666D"/>
                </a:solidFill>
                <a:latin typeface="Arial"/>
                <a:ea typeface="Arial"/>
                <a:cs typeface="Arial"/>
              </a:defRPr>
            </a:lvl4pPr>
            <a:lvl5pPr algn="r">
              <a:defRPr sz="1275" b="0">
                <a:solidFill>
                  <a:srgbClr val="52666D"/>
                </a:solidFill>
                <a:latin typeface="Arial"/>
                <a:ea typeface="Arial"/>
                <a:cs typeface="Arial"/>
              </a:defRPr>
            </a:lvl5pPr>
            <a:lvl6pPr algn="r">
              <a:defRPr sz="1275" b="0">
                <a:solidFill>
                  <a:srgbClr val="52666D"/>
                </a:solidFill>
                <a:latin typeface="Arial"/>
                <a:ea typeface="Arial"/>
                <a:cs typeface="Arial"/>
              </a:defRPr>
            </a:lvl6pPr>
            <a:lvl7pPr algn="r">
              <a:defRPr sz="1275" b="0">
                <a:solidFill>
                  <a:srgbClr val="52666D"/>
                </a:solidFill>
                <a:latin typeface="Arial"/>
                <a:ea typeface="Arial"/>
                <a:cs typeface="Arial"/>
              </a:defRPr>
            </a:lvl7pPr>
            <a:lvl8pPr algn="r">
              <a:defRPr sz="1275" b="0">
                <a:solidFill>
                  <a:srgbClr val="52666D"/>
                </a:solidFill>
                <a:latin typeface="Arial"/>
                <a:ea typeface="Arial"/>
                <a:cs typeface="Arial"/>
              </a:defRPr>
            </a:lvl8pPr>
            <a:lvl9pPr algn="r">
              <a:defRPr sz="1275" b="0">
                <a:solidFill>
                  <a:srgbClr val="52666D"/>
                </a:solidFill>
                <a:latin typeface="Arial"/>
                <a:ea typeface="Arial"/>
                <a:cs typeface="Arial"/>
              </a:defRPr>
            </a:lvl9pPr>
          </a:lstStyle>
          <a:p xmlns:a="http://schemas.openxmlformats.org/drawingml/2006/main">
            <a:pPr algn="r">
              <a:defRPr sz="1275" b="0">
                <a:solidFill>
                  <a:srgbClr val="52666D"/>
                </a:solidFill>
                <a:latin typeface="Arial"/>
                <a:ea typeface="Arial"/>
                <a:cs typeface="Arial"/>
              </a:defRPr>
            </a:pPr>
            <a:r>
              <a:rPr sz="1275" b="0">
                <a:solidFill>
                  <a:srgbClr val="52666D"/>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0957D4CE-AAA5-4805-BC67-A338B24FD5AF}"/>
              </a:ext>
            </a:extLst>
          </p:cNvPr>
          <p:cNvSpPr>
            <a:spLocks xmlns:a="http://schemas.openxmlformats.org/drawingml/2006/main" noGrp="1"/>
          </p:cNvSpPr>
          <p:nvPr/>
        </p:nvSpPr>
        <p:spPr>
          <a:xfrm xmlns:a="http://schemas.openxmlformats.org/drawingml/2006/main">
            <a:off x="609600" y="11811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0">
                <a:solidFill>
                  <a:srgbClr val="52666D"/>
                </a:solidFill>
                <a:latin typeface="Arial"/>
                <a:ea typeface="Arial"/>
                <a:cs typeface="Arial"/>
              </a:defRPr>
            </a:defPPr>
            <a:lvl1pPr algn="l">
              <a:defRPr sz="2250" b="0">
                <a:solidFill>
                  <a:srgbClr val="52666D"/>
                </a:solidFill>
                <a:latin typeface="Arial"/>
                <a:ea typeface="Arial"/>
                <a:cs typeface="Arial"/>
              </a:defRPr>
            </a:lvl1pPr>
            <a:lvl2pPr algn="l">
              <a:defRPr sz="2250" b="0">
                <a:solidFill>
                  <a:srgbClr val="52666D"/>
                </a:solidFill>
                <a:latin typeface="Arial"/>
                <a:ea typeface="Arial"/>
                <a:cs typeface="Arial"/>
              </a:defRPr>
            </a:lvl2pPr>
            <a:lvl3pPr algn="l">
              <a:defRPr sz="2250" b="0">
                <a:solidFill>
                  <a:srgbClr val="52666D"/>
                </a:solidFill>
                <a:latin typeface="Arial"/>
                <a:ea typeface="Arial"/>
                <a:cs typeface="Arial"/>
              </a:defRPr>
            </a:lvl3pPr>
            <a:lvl4pPr algn="l">
              <a:defRPr sz="2250" b="0">
                <a:solidFill>
                  <a:srgbClr val="52666D"/>
                </a:solidFill>
                <a:latin typeface="Arial"/>
                <a:ea typeface="Arial"/>
                <a:cs typeface="Arial"/>
              </a:defRPr>
            </a:lvl4pPr>
            <a:lvl5pPr algn="l">
              <a:defRPr sz="2250" b="0">
                <a:solidFill>
                  <a:srgbClr val="52666D"/>
                </a:solidFill>
                <a:latin typeface="Arial"/>
                <a:ea typeface="Arial"/>
                <a:cs typeface="Arial"/>
              </a:defRPr>
            </a:lvl5pPr>
            <a:lvl6pPr algn="l">
              <a:defRPr sz="2250" b="0">
                <a:solidFill>
                  <a:srgbClr val="52666D"/>
                </a:solidFill>
                <a:latin typeface="Arial"/>
                <a:ea typeface="Arial"/>
                <a:cs typeface="Arial"/>
              </a:defRPr>
            </a:lvl6pPr>
            <a:lvl7pPr algn="l">
              <a:defRPr sz="2250" b="0">
                <a:solidFill>
                  <a:srgbClr val="52666D"/>
                </a:solidFill>
                <a:latin typeface="Arial"/>
                <a:ea typeface="Arial"/>
                <a:cs typeface="Arial"/>
              </a:defRPr>
            </a:lvl7pPr>
            <a:lvl8pPr algn="l">
              <a:defRPr sz="2250" b="0">
                <a:solidFill>
                  <a:srgbClr val="52666D"/>
                </a:solidFill>
                <a:latin typeface="Arial"/>
                <a:ea typeface="Arial"/>
                <a:cs typeface="Arial"/>
              </a:defRPr>
            </a:lvl8pPr>
            <a:lvl9pPr algn="l">
              <a:defRPr sz="2250" b="0">
                <a:solidFill>
                  <a:srgbClr val="52666D"/>
                </a:solidFill>
                <a:latin typeface="Arial"/>
                <a:ea typeface="Arial"/>
                <a:cs typeface="Arial"/>
              </a:defRPr>
            </a:lvl9pPr>
          </a:lstStyle>
          <a:p xmlns:a="http://schemas.openxmlformats.org/drawingml/2006/main">
            <a:pPr algn="l">
              <a:defRPr sz="2250" b="0">
                <a:solidFill>
                  <a:srgbClr val="52666D"/>
                </a:solidFill>
                <a:latin typeface="Arial"/>
                <a:ea typeface="Arial"/>
                <a:cs typeface="Arial"/>
              </a:defRPr>
            </a:pPr>
            <a:r>
              <a:rPr sz="2250" b="0">
                <a:solidFill>
                  <a:srgbClr val="52666D"/>
                </a:solidFill>
                <a:latin typeface="Arial"/>
                <a:ea typeface="Arial"/>
                <a:cs typeface="Arial"/>
              </a:rPr>
              <a:t>Negation, uncertainty, and terminology generalization</a:t>
            </a:r>
          </a:p>
        </p:txBody>
      </p:sp>
      <p:sp>
        <p:nvSpPr>
          <p:cNvPr id="4" name="">
            <a:extLst xmlns:a="http://schemas.openxmlformats.org/drawingml/2006/main">
              <a:ext uri="{FF2B5EF4-FFF2-40B4-BE49-F238E27FC236}">
                <a16:creationId xmlns:a16="http://schemas.microsoft.com/office/drawing/2014/main" id="{EB7D99F4-25C4-4972-B7C4-B00C7BC3E7B8}"/>
              </a:ext>
            </a:extLst>
          </p:cNvPr>
          <p:cNvSpPr>
            <a:spLocks xmlns:a="http://schemas.openxmlformats.org/drawingml/2006/main" noGrp="1"/>
          </p:cNvSpPr>
          <p:nvPr/>
        </p:nvSpPr>
        <p:spPr>
          <a:xfrm xmlns:a="http://schemas.openxmlformats.org/drawingml/2006/main">
            <a:off x="609600" y="18097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52666D"/>
                </a:solidFill>
                <a:latin typeface="Arial"/>
                <a:ea typeface="Arial"/>
                <a:cs typeface="Arial"/>
              </a:defRPr>
            </a:defPPr>
            <a:lvl1pPr algn="l">
              <a:defRPr sz="1650" b="0">
                <a:solidFill>
                  <a:srgbClr val="52666D"/>
                </a:solidFill>
                <a:latin typeface="Arial"/>
                <a:ea typeface="Arial"/>
                <a:cs typeface="Arial"/>
              </a:defRPr>
            </a:lvl1pPr>
            <a:lvl2pPr algn="l">
              <a:defRPr sz="1650" b="0">
                <a:solidFill>
                  <a:srgbClr val="52666D"/>
                </a:solidFill>
                <a:latin typeface="Arial"/>
                <a:ea typeface="Arial"/>
                <a:cs typeface="Arial"/>
              </a:defRPr>
            </a:lvl2pPr>
            <a:lvl3pPr algn="l">
              <a:defRPr sz="1650" b="0">
                <a:solidFill>
                  <a:srgbClr val="52666D"/>
                </a:solidFill>
                <a:latin typeface="Arial"/>
                <a:ea typeface="Arial"/>
                <a:cs typeface="Arial"/>
              </a:defRPr>
            </a:lvl3pPr>
            <a:lvl4pPr algn="l">
              <a:defRPr sz="1650" b="0">
                <a:solidFill>
                  <a:srgbClr val="52666D"/>
                </a:solidFill>
                <a:latin typeface="Arial"/>
                <a:ea typeface="Arial"/>
                <a:cs typeface="Arial"/>
              </a:defRPr>
            </a:lvl4pPr>
            <a:lvl5pPr algn="l">
              <a:defRPr sz="1650" b="0">
                <a:solidFill>
                  <a:srgbClr val="52666D"/>
                </a:solidFill>
                <a:latin typeface="Arial"/>
                <a:ea typeface="Arial"/>
                <a:cs typeface="Arial"/>
              </a:defRPr>
            </a:lvl5pPr>
            <a:lvl6pPr algn="l">
              <a:defRPr sz="1650" b="0">
                <a:solidFill>
                  <a:srgbClr val="52666D"/>
                </a:solidFill>
                <a:latin typeface="Arial"/>
                <a:ea typeface="Arial"/>
                <a:cs typeface="Arial"/>
              </a:defRPr>
            </a:lvl6pPr>
            <a:lvl7pPr algn="l">
              <a:defRPr sz="1650" b="0">
                <a:solidFill>
                  <a:srgbClr val="52666D"/>
                </a:solidFill>
                <a:latin typeface="Arial"/>
                <a:ea typeface="Arial"/>
                <a:cs typeface="Arial"/>
              </a:defRPr>
            </a:lvl7pPr>
            <a:lvl8pPr algn="l">
              <a:defRPr sz="1650" b="0">
                <a:solidFill>
                  <a:srgbClr val="52666D"/>
                </a:solidFill>
                <a:latin typeface="Arial"/>
                <a:ea typeface="Arial"/>
                <a:cs typeface="Arial"/>
              </a:defRPr>
            </a:lvl8pPr>
            <a:lvl9pPr algn="l">
              <a:defRPr sz="1650" b="0">
                <a:solidFill>
                  <a:srgbClr val="52666D"/>
                </a:solidFill>
                <a:latin typeface="Arial"/>
                <a:ea typeface="Arial"/>
                <a:cs typeface="Arial"/>
              </a:defRPr>
            </a:lvl9pPr>
          </a:lstStyle>
          <a:p xmlns:a="http://schemas.openxmlformats.org/drawingml/2006/main">
            <a:pPr algn="l">
              <a:defRPr sz="1650" b="0">
                <a:solidFill>
                  <a:srgbClr val="52666D"/>
                </a:solidFill>
                <a:latin typeface="Arial"/>
                <a:ea typeface="Arial"/>
                <a:cs typeface="Arial"/>
              </a:defRPr>
            </a:pPr>
            <a:r>
              <a:rPr sz="1650" b="0">
                <a:solidFill>
                  <a:srgbClr val="52666D"/>
                </a:solidFill>
                <a:latin typeface="Arial"/>
                <a:ea typeface="Arial"/>
                <a:cs typeface="Arial"/>
              </a:rPr>
              <a:t>CSI 436/536 · Project P · Group 8</a:t>
            </a:r>
          </a:p>
        </p:txBody>
      </p:sp>
      <p:sp>
        <p:nvSpPr>
          <p:cNvPr id="5" name="">
            <a:extLst xmlns:a="http://schemas.openxmlformats.org/drawingml/2006/main">
              <a:ext uri="{FF2B5EF4-FFF2-40B4-BE49-F238E27FC236}">
                <a16:creationId xmlns:a16="http://schemas.microsoft.com/office/drawing/2014/main" id="{4943D8FC-F9BD-4E42-8E4B-A2C1422B0F7D}"/>
              </a:ext>
            </a:extLst>
          </p:cNvPr>
          <p:cNvSpPr>
            <a:spLocks xmlns:a="http://schemas.openxmlformats.org/drawingml/2006/main" noGrp="1"/>
          </p:cNvSpPr>
          <p:nvPr/>
        </p:nvSpPr>
        <p:spPr>
          <a:xfrm xmlns:a="http://schemas.openxmlformats.org/drawingml/2006/main">
            <a:off x="609600" y="22098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1">
                <a:solidFill>
                  <a:srgbClr val="163139"/>
                </a:solidFill>
                <a:latin typeface="Arial"/>
                <a:ea typeface="Arial"/>
                <a:cs typeface="Arial"/>
              </a:defRPr>
            </a:defPPr>
            <a:lvl1pPr algn="l">
              <a:defRPr sz="1800" b="1">
                <a:solidFill>
                  <a:srgbClr val="163139"/>
                </a:solidFill>
                <a:latin typeface="Arial"/>
                <a:ea typeface="Arial"/>
                <a:cs typeface="Arial"/>
              </a:defRPr>
            </a:lvl1pPr>
            <a:lvl2pPr algn="l">
              <a:defRPr sz="1800" b="1">
                <a:solidFill>
                  <a:srgbClr val="163139"/>
                </a:solidFill>
                <a:latin typeface="Arial"/>
                <a:ea typeface="Arial"/>
                <a:cs typeface="Arial"/>
              </a:defRPr>
            </a:lvl2pPr>
            <a:lvl3pPr algn="l">
              <a:defRPr sz="1800" b="1">
                <a:solidFill>
                  <a:srgbClr val="163139"/>
                </a:solidFill>
                <a:latin typeface="Arial"/>
                <a:ea typeface="Arial"/>
                <a:cs typeface="Arial"/>
              </a:defRPr>
            </a:lvl3pPr>
            <a:lvl4pPr algn="l">
              <a:defRPr sz="1800" b="1">
                <a:solidFill>
                  <a:srgbClr val="163139"/>
                </a:solidFill>
                <a:latin typeface="Arial"/>
                <a:ea typeface="Arial"/>
                <a:cs typeface="Arial"/>
              </a:defRPr>
            </a:lvl4pPr>
            <a:lvl5pPr algn="l">
              <a:defRPr sz="1800" b="1">
                <a:solidFill>
                  <a:srgbClr val="163139"/>
                </a:solidFill>
                <a:latin typeface="Arial"/>
                <a:ea typeface="Arial"/>
                <a:cs typeface="Arial"/>
              </a:defRPr>
            </a:lvl5pPr>
            <a:lvl6pPr algn="l">
              <a:defRPr sz="1800" b="1">
                <a:solidFill>
                  <a:srgbClr val="163139"/>
                </a:solidFill>
                <a:latin typeface="Arial"/>
                <a:ea typeface="Arial"/>
                <a:cs typeface="Arial"/>
              </a:defRPr>
            </a:lvl6pPr>
            <a:lvl7pPr algn="l">
              <a:defRPr sz="1800" b="1">
                <a:solidFill>
                  <a:srgbClr val="163139"/>
                </a:solidFill>
                <a:latin typeface="Arial"/>
                <a:ea typeface="Arial"/>
                <a:cs typeface="Arial"/>
              </a:defRPr>
            </a:lvl7pPr>
            <a:lvl8pPr algn="l">
              <a:defRPr sz="1800" b="1">
                <a:solidFill>
                  <a:srgbClr val="163139"/>
                </a:solidFill>
                <a:latin typeface="Arial"/>
                <a:ea typeface="Arial"/>
                <a:cs typeface="Arial"/>
              </a:defRPr>
            </a:lvl8pPr>
            <a:lvl9pPr algn="l">
              <a:defRPr sz="1800" b="1">
                <a:solidFill>
                  <a:srgbClr val="163139"/>
                </a:solidFill>
                <a:latin typeface="Arial"/>
                <a:ea typeface="Arial"/>
                <a:cs typeface="Arial"/>
              </a:defRPr>
            </a:lvl9pPr>
          </a:lstStyle>
          <a:p xmlns:a="http://schemas.openxmlformats.org/drawingml/2006/main">
            <a:pPr algn="l">
              <a:defRPr sz="1800" b="1">
                <a:solidFill>
                  <a:srgbClr val="163139"/>
                </a:solidFill>
                <a:latin typeface="Arial"/>
                <a:ea typeface="Arial"/>
                <a:cs typeface="Arial"/>
              </a:defRPr>
            </a:pPr>
            <a:r>
              <a:rPr sz="1800" b="1">
                <a:solidFill>
                  <a:srgbClr val="163139"/>
                </a:solidFill>
                <a:latin typeface="Arial"/>
                <a:ea typeface="Arial"/>
                <a:cs typeface="Arial"/>
              </a:rPr>
              <a:t>Yuhan Sun · Zeyu Pan · Jiayu Liao</a:t>
            </a:r>
          </a:p>
        </p:txBody>
      </p:sp>
      <p:sp>
        <p:nvSpPr>
          <p:cNvPr id="6" name="">
            <a:extLst xmlns:a="http://schemas.openxmlformats.org/drawingml/2006/main">
              <a:ext uri="{FF2B5EF4-FFF2-40B4-BE49-F238E27FC236}">
                <a16:creationId xmlns:a16="http://schemas.microsoft.com/office/drawing/2014/main" id="{32FB11F3-0EB3-4CBD-A0E0-EF8BBF2DB2D1}"/>
              </a:ext>
            </a:extLst>
          </p:cNvPr>
          <p:cNvSpPr>
            <a:spLocks xmlns:a="http://schemas.openxmlformats.org/drawingml/2006/main" noGrp="1"/>
          </p:cNvSpPr>
          <p:nvPr/>
        </p:nvSpPr>
        <p:spPr>
          <a:xfrm xmlns:a="http://schemas.openxmlformats.org/drawingml/2006/main">
            <a:off x="838200" y="278130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75" b="0">
                <a:solidFill>
                  <a:srgbClr val="163139"/>
                </a:solidFill>
                <a:latin typeface="Arial"/>
                <a:ea typeface="Arial"/>
                <a:cs typeface="Arial"/>
              </a:defRPr>
            </a:defPPr>
            <a:lvl1pPr algn="l">
              <a:defRPr sz="2775" b="0">
                <a:solidFill>
                  <a:srgbClr val="163139"/>
                </a:solidFill>
                <a:latin typeface="Arial"/>
                <a:ea typeface="Arial"/>
                <a:cs typeface="Arial"/>
              </a:defRPr>
            </a:lvl1pPr>
            <a:lvl2pPr algn="l">
              <a:defRPr sz="2775" b="0">
                <a:solidFill>
                  <a:srgbClr val="163139"/>
                </a:solidFill>
                <a:latin typeface="Arial"/>
                <a:ea typeface="Arial"/>
                <a:cs typeface="Arial"/>
              </a:defRPr>
            </a:lvl2pPr>
            <a:lvl3pPr algn="l">
              <a:defRPr sz="2775" b="0">
                <a:solidFill>
                  <a:srgbClr val="163139"/>
                </a:solidFill>
                <a:latin typeface="Arial"/>
                <a:ea typeface="Arial"/>
                <a:cs typeface="Arial"/>
              </a:defRPr>
            </a:lvl3pPr>
            <a:lvl4pPr algn="l">
              <a:defRPr sz="2775" b="0">
                <a:solidFill>
                  <a:srgbClr val="163139"/>
                </a:solidFill>
                <a:latin typeface="Arial"/>
                <a:ea typeface="Arial"/>
                <a:cs typeface="Arial"/>
              </a:defRPr>
            </a:lvl4pPr>
            <a:lvl5pPr algn="l">
              <a:defRPr sz="2775" b="0">
                <a:solidFill>
                  <a:srgbClr val="163139"/>
                </a:solidFill>
                <a:latin typeface="Arial"/>
                <a:ea typeface="Arial"/>
                <a:cs typeface="Arial"/>
              </a:defRPr>
            </a:lvl5pPr>
            <a:lvl6pPr algn="l">
              <a:defRPr sz="2775" b="0">
                <a:solidFill>
                  <a:srgbClr val="163139"/>
                </a:solidFill>
                <a:latin typeface="Arial"/>
                <a:ea typeface="Arial"/>
                <a:cs typeface="Arial"/>
              </a:defRPr>
            </a:lvl6pPr>
            <a:lvl7pPr algn="l">
              <a:defRPr sz="2775" b="0">
                <a:solidFill>
                  <a:srgbClr val="163139"/>
                </a:solidFill>
                <a:latin typeface="Arial"/>
                <a:ea typeface="Arial"/>
                <a:cs typeface="Arial"/>
              </a:defRPr>
            </a:lvl7pPr>
            <a:lvl8pPr algn="l">
              <a:defRPr sz="2775" b="0">
                <a:solidFill>
                  <a:srgbClr val="163139"/>
                </a:solidFill>
                <a:latin typeface="Arial"/>
                <a:ea typeface="Arial"/>
                <a:cs typeface="Arial"/>
              </a:defRPr>
            </a:lvl8pPr>
            <a:lvl9pPr algn="l">
              <a:defRPr sz="2775" b="0">
                <a:solidFill>
                  <a:srgbClr val="163139"/>
                </a:solidFill>
                <a:latin typeface="Arial"/>
                <a:ea typeface="Arial"/>
                <a:cs typeface="Arial"/>
              </a:defRPr>
            </a:lvl9pPr>
          </a:lstStyle>
          <a:p xmlns:a="http://schemas.openxmlformats.org/drawingml/2006/main">
            <a:pPr algn="l">
              <a:defRPr sz="2775" b="0">
                <a:solidFill>
                  <a:srgbClr val="163139"/>
                </a:solidFill>
                <a:latin typeface="Arial"/>
                <a:ea typeface="Arial"/>
                <a:cs typeface="Arial"/>
              </a:defRPr>
            </a:pPr>
            <a:r>
              <a:rPr sz="2775" b="0">
                <a:solidFill>
                  <a:srgbClr val="163139"/>
                </a:solidFill>
                <a:latin typeface="Arial"/>
                <a:ea typeface="Arial"/>
                <a:cs typeface="Arial"/>
              </a:rPr>
              <a:t>The patient has pneumonia.</a:t>
            </a:r>
          </a:p>
        </p:txBody>
      </p:sp>
      <p:sp>
        <p:nvSpPr>
          <p:cNvPr id="7" name="">
            <a:extLst xmlns:a="http://schemas.openxmlformats.org/drawingml/2006/main">
              <a:ext uri="{FF2B5EF4-FFF2-40B4-BE49-F238E27FC236}">
                <a16:creationId xmlns:a16="http://schemas.microsoft.com/office/drawing/2014/main" id="{D32A7E58-C49E-4A1F-991A-42B6A941780E}"/>
              </a:ext>
            </a:extLst>
          </p:cNvPr>
          <p:cNvSpPr>
            <a:spLocks xmlns:a="http://schemas.openxmlformats.org/drawingml/2006/main" noGrp="1"/>
          </p:cNvSpPr>
          <p:nvPr/>
        </p:nvSpPr>
        <p:spPr>
          <a:xfrm xmlns:a="http://schemas.openxmlformats.org/drawingml/2006/main">
            <a:off x="838200" y="35242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75" b="1">
                <a:solidFill>
                  <a:srgbClr val="087E75"/>
                </a:solidFill>
                <a:latin typeface="Arial"/>
                <a:ea typeface="Arial"/>
                <a:cs typeface="Arial"/>
              </a:defRPr>
            </a:defPPr>
            <a:lvl1pPr algn="l">
              <a:defRPr sz="2775" b="1">
                <a:solidFill>
                  <a:srgbClr val="087E75"/>
                </a:solidFill>
                <a:latin typeface="Arial"/>
                <a:ea typeface="Arial"/>
                <a:cs typeface="Arial"/>
              </a:defRPr>
            </a:lvl1pPr>
            <a:lvl2pPr algn="l">
              <a:defRPr sz="2775" b="1">
                <a:solidFill>
                  <a:srgbClr val="087E75"/>
                </a:solidFill>
                <a:latin typeface="Arial"/>
                <a:ea typeface="Arial"/>
                <a:cs typeface="Arial"/>
              </a:defRPr>
            </a:lvl2pPr>
            <a:lvl3pPr algn="l">
              <a:defRPr sz="2775" b="1">
                <a:solidFill>
                  <a:srgbClr val="087E75"/>
                </a:solidFill>
                <a:latin typeface="Arial"/>
                <a:ea typeface="Arial"/>
                <a:cs typeface="Arial"/>
              </a:defRPr>
            </a:lvl3pPr>
            <a:lvl4pPr algn="l">
              <a:defRPr sz="2775" b="1">
                <a:solidFill>
                  <a:srgbClr val="087E75"/>
                </a:solidFill>
                <a:latin typeface="Arial"/>
                <a:ea typeface="Arial"/>
                <a:cs typeface="Arial"/>
              </a:defRPr>
            </a:lvl4pPr>
            <a:lvl5pPr algn="l">
              <a:defRPr sz="2775" b="1">
                <a:solidFill>
                  <a:srgbClr val="087E75"/>
                </a:solidFill>
                <a:latin typeface="Arial"/>
                <a:ea typeface="Arial"/>
                <a:cs typeface="Arial"/>
              </a:defRPr>
            </a:lvl5pPr>
            <a:lvl6pPr algn="l">
              <a:defRPr sz="2775" b="1">
                <a:solidFill>
                  <a:srgbClr val="087E75"/>
                </a:solidFill>
                <a:latin typeface="Arial"/>
                <a:ea typeface="Arial"/>
                <a:cs typeface="Arial"/>
              </a:defRPr>
            </a:lvl6pPr>
            <a:lvl7pPr algn="l">
              <a:defRPr sz="2775" b="1">
                <a:solidFill>
                  <a:srgbClr val="087E75"/>
                </a:solidFill>
                <a:latin typeface="Arial"/>
                <a:ea typeface="Arial"/>
                <a:cs typeface="Arial"/>
              </a:defRPr>
            </a:lvl7pPr>
            <a:lvl8pPr algn="l">
              <a:defRPr sz="2775" b="1">
                <a:solidFill>
                  <a:srgbClr val="087E75"/>
                </a:solidFill>
                <a:latin typeface="Arial"/>
                <a:ea typeface="Arial"/>
                <a:cs typeface="Arial"/>
              </a:defRPr>
            </a:lvl8pPr>
            <a:lvl9pPr algn="l">
              <a:defRPr sz="2775" b="1">
                <a:solidFill>
                  <a:srgbClr val="087E75"/>
                </a:solidFill>
                <a:latin typeface="Arial"/>
                <a:ea typeface="Arial"/>
                <a:cs typeface="Arial"/>
              </a:defRPr>
            </a:lvl9pPr>
          </a:lstStyle>
          <a:p xmlns:a="http://schemas.openxmlformats.org/drawingml/2006/main">
            <a:pPr algn="l">
              <a:defRPr sz="2775" b="1">
                <a:solidFill>
                  <a:srgbClr val="087E75"/>
                </a:solidFill>
                <a:latin typeface="Arial"/>
                <a:ea typeface="Arial"/>
                <a:cs typeface="Arial"/>
              </a:defRPr>
            </a:pPr>
            <a:r>
              <a:rPr sz="2775" b="1">
                <a:solidFill>
                  <a:srgbClr val="087E75"/>
                </a:solidFill>
                <a:latin typeface="Arial"/>
                <a:ea typeface="Arial"/>
                <a:cs typeface="Arial"/>
              </a:rPr>
              <a:t>The patient has no pneumonia.</a:t>
            </a:r>
          </a:p>
        </p:txBody>
      </p:sp>
      <p:sp>
        <p:nvSpPr>
          <p:cNvPr id="8" name="">
            <a:extLst xmlns:a="http://schemas.openxmlformats.org/drawingml/2006/main">
              <a:ext uri="{FF2B5EF4-FFF2-40B4-BE49-F238E27FC236}">
                <a16:creationId xmlns:a16="http://schemas.microsoft.com/office/drawing/2014/main" id="{F4E654E2-11A5-4FA5-B7E5-61E56AD578EF}"/>
              </a:ext>
            </a:extLst>
          </p:cNvPr>
          <p:cNvSpPr>
            <a:spLocks xmlns:a="http://schemas.openxmlformats.org/drawingml/2006/main" noGrp="1"/>
          </p:cNvSpPr>
          <p:nvPr/>
        </p:nvSpPr>
        <p:spPr>
          <a:xfrm xmlns:a="http://schemas.openxmlformats.org/drawingml/2006/main">
            <a:off x="838200" y="426720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75" b="1">
                <a:solidFill>
                  <a:srgbClr val="087E75"/>
                </a:solidFill>
                <a:latin typeface="Arial"/>
                <a:ea typeface="Arial"/>
                <a:cs typeface="Arial"/>
              </a:defRPr>
            </a:defPPr>
            <a:lvl1pPr algn="l">
              <a:defRPr sz="2775" b="1">
                <a:solidFill>
                  <a:srgbClr val="087E75"/>
                </a:solidFill>
                <a:latin typeface="Arial"/>
                <a:ea typeface="Arial"/>
                <a:cs typeface="Arial"/>
              </a:defRPr>
            </a:lvl1pPr>
            <a:lvl2pPr algn="l">
              <a:defRPr sz="2775" b="1">
                <a:solidFill>
                  <a:srgbClr val="087E75"/>
                </a:solidFill>
                <a:latin typeface="Arial"/>
                <a:ea typeface="Arial"/>
                <a:cs typeface="Arial"/>
              </a:defRPr>
            </a:lvl2pPr>
            <a:lvl3pPr algn="l">
              <a:defRPr sz="2775" b="1">
                <a:solidFill>
                  <a:srgbClr val="087E75"/>
                </a:solidFill>
                <a:latin typeface="Arial"/>
                <a:ea typeface="Arial"/>
                <a:cs typeface="Arial"/>
              </a:defRPr>
            </a:lvl3pPr>
            <a:lvl4pPr algn="l">
              <a:defRPr sz="2775" b="1">
                <a:solidFill>
                  <a:srgbClr val="087E75"/>
                </a:solidFill>
                <a:latin typeface="Arial"/>
                <a:ea typeface="Arial"/>
                <a:cs typeface="Arial"/>
              </a:defRPr>
            </a:lvl4pPr>
            <a:lvl5pPr algn="l">
              <a:defRPr sz="2775" b="1">
                <a:solidFill>
                  <a:srgbClr val="087E75"/>
                </a:solidFill>
                <a:latin typeface="Arial"/>
                <a:ea typeface="Arial"/>
                <a:cs typeface="Arial"/>
              </a:defRPr>
            </a:lvl5pPr>
            <a:lvl6pPr algn="l">
              <a:defRPr sz="2775" b="1">
                <a:solidFill>
                  <a:srgbClr val="087E75"/>
                </a:solidFill>
                <a:latin typeface="Arial"/>
                <a:ea typeface="Arial"/>
                <a:cs typeface="Arial"/>
              </a:defRPr>
            </a:lvl6pPr>
            <a:lvl7pPr algn="l">
              <a:defRPr sz="2775" b="1">
                <a:solidFill>
                  <a:srgbClr val="087E75"/>
                </a:solidFill>
                <a:latin typeface="Arial"/>
                <a:ea typeface="Arial"/>
                <a:cs typeface="Arial"/>
              </a:defRPr>
            </a:lvl7pPr>
            <a:lvl8pPr algn="l">
              <a:defRPr sz="2775" b="1">
                <a:solidFill>
                  <a:srgbClr val="087E75"/>
                </a:solidFill>
                <a:latin typeface="Arial"/>
                <a:ea typeface="Arial"/>
                <a:cs typeface="Arial"/>
              </a:defRPr>
            </a:lvl8pPr>
            <a:lvl9pPr algn="l">
              <a:defRPr sz="2775" b="1">
                <a:solidFill>
                  <a:srgbClr val="087E75"/>
                </a:solidFill>
                <a:latin typeface="Arial"/>
                <a:ea typeface="Arial"/>
                <a:cs typeface="Arial"/>
              </a:defRPr>
            </a:lvl9pPr>
          </a:lstStyle>
          <a:p xmlns:a="http://schemas.openxmlformats.org/drawingml/2006/main">
            <a:pPr algn="l">
              <a:defRPr sz="2775" b="1">
                <a:solidFill>
                  <a:srgbClr val="087E75"/>
                </a:solidFill>
                <a:latin typeface="Arial"/>
                <a:ea typeface="Arial"/>
                <a:cs typeface="Arial"/>
              </a:defRPr>
            </a:pPr>
            <a:r>
              <a:rPr sz="2775" b="1">
                <a:solidFill>
                  <a:srgbClr val="087E75"/>
                </a:solidFill>
                <a:latin typeface="Arial"/>
                <a:ea typeface="Arial"/>
                <a:cs typeface="Arial"/>
              </a:rPr>
              <a:t>The patient may have pneumonia.</a:t>
            </a:r>
          </a:p>
        </p:txBody>
      </p:sp>
      <p:sp>
        <p:nvSpPr>
          <p:cNvPr id="9" name="">
            <a:extLst xmlns:a="http://schemas.openxmlformats.org/drawingml/2006/main">
              <a:ext uri="{FF2B5EF4-FFF2-40B4-BE49-F238E27FC236}">
                <a16:creationId xmlns:a16="http://schemas.microsoft.com/office/drawing/2014/main" id="{73A1AFF1-650A-4A79-91AF-7C0C77B955DF}"/>
              </a:ext>
            </a:extLst>
          </p:cNvPr>
          <p:cNvSpPr>
            <a:spLocks xmlns:a="http://schemas.openxmlformats.org/drawingml/2006/main" noGrp="1"/>
          </p:cNvSpPr>
          <p:nvPr/>
        </p:nvSpPr>
        <p:spPr>
          <a:xfrm xmlns:a="http://schemas.openxmlformats.org/drawingml/2006/main">
            <a:off x="609600" y="5419725"/>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63139"/>
                </a:solidFill>
                <a:latin typeface="Arial"/>
                <a:ea typeface="Arial"/>
                <a:cs typeface="Arial"/>
              </a:defRPr>
            </a:defPPr>
            <a:lvl1pPr algn="l">
              <a:defRPr sz="2175" b="1">
                <a:solidFill>
                  <a:srgbClr val="163139"/>
                </a:solidFill>
                <a:latin typeface="Arial"/>
                <a:ea typeface="Arial"/>
                <a:cs typeface="Arial"/>
              </a:defRPr>
            </a:lvl1pPr>
            <a:lvl2pPr algn="l">
              <a:defRPr sz="2175" b="1">
                <a:solidFill>
                  <a:srgbClr val="163139"/>
                </a:solidFill>
                <a:latin typeface="Arial"/>
                <a:ea typeface="Arial"/>
                <a:cs typeface="Arial"/>
              </a:defRPr>
            </a:lvl2pPr>
            <a:lvl3pPr algn="l">
              <a:defRPr sz="2175" b="1">
                <a:solidFill>
                  <a:srgbClr val="163139"/>
                </a:solidFill>
                <a:latin typeface="Arial"/>
                <a:ea typeface="Arial"/>
                <a:cs typeface="Arial"/>
              </a:defRPr>
            </a:lvl3pPr>
            <a:lvl4pPr algn="l">
              <a:defRPr sz="2175" b="1">
                <a:solidFill>
                  <a:srgbClr val="163139"/>
                </a:solidFill>
                <a:latin typeface="Arial"/>
                <a:ea typeface="Arial"/>
                <a:cs typeface="Arial"/>
              </a:defRPr>
            </a:lvl4pPr>
            <a:lvl5pPr algn="l">
              <a:defRPr sz="2175" b="1">
                <a:solidFill>
                  <a:srgbClr val="163139"/>
                </a:solidFill>
                <a:latin typeface="Arial"/>
                <a:ea typeface="Arial"/>
                <a:cs typeface="Arial"/>
              </a:defRPr>
            </a:lvl5pPr>
            <a:lvl6pPr algn="l">
              <a:defRPr sz="2175" b="1">
                <a:solidFill>
                  <a:srgbClr val="163139"/>
                </a:solidFill>
                <a:latin typeface="Arial"/>
                <a:ea typeface="Arial"/>
                <a:cs typeface="Arial"/>
              </a:defRPr>
            </a:lvl6pPr>
            <a:lvl7pPr algn="l">
              <a:defRPr sz="2175" b="1">
                <a:solidFill>
                  <a:srgbClr val="163139"/>
                </a:solidFill>
                <a:latin typeface="Arial"/>
                <a:ea typeface="Arial"/>
                <a:cs typeface="Arial"/>
              </a:defRPr>
            </a:lvl7pPr>
            <a:lvl8pPr algn="l">
              <a:defRPr sz="2175" b="1">
                <a:solidFill>
                  <a:srgbClr val="163139"/>
                </a:solidFill>
                <a:latin typeface="Arial"/>
                <a:ea typeface="Arial"/>
                <a:cs typeface="Arial"/>
              </a:defRPr>
            </a:lvl8pPr>
            <a:lvl9pPr algn="l">
              <a:defRPr sz="2175" b="1">
                <a:solidFill>
                  <a:srgbClr val="163139"/>
                </a:solidFill>
                <a:latin typeface="Arial"/>
                <a:ea typeface="Arial"/>
                <a:cs typeface="Arial"/>
              </a:defRPr>
            </a:lvl9pPr>
          </a:lstStyle>
          <a:p xmlns:a="http://schemas.openxmlformats.org/drawingml/2006/main">
            <a:pPr algn="l">
              <a:defRPr sz="2175" b="1">
                <a:solidFill>
                  <a:srgbClr val="163139"/>
                </a:solidFill>
                <a:latin typeface="Arial"/>
                <a:ea typeface="Arial"/>
                <a:cs typeface="Arial"/>
              </a:defRPr>
            </a:pPr>
            <a:r>
              <a:rPr sz="2175" b="1">
                <a:solidFill>
                  <a:srgbClr val="163139"/>
                </a:solidFill>
                <a:latin typeface="Arial"/>
                <a:ea typeface="Arial"/>
                <a:cs typeface="Arial"/>
              </a:rPr>
              <a:t>Can frozen text embeddings help a simple classifier detect these distinctions?</a:t>
            </a:r>
          </a:p>
        </p:txBody>
      </p:sp>
    </p:spTree>
    <p:extLst>
      <p:ext uri="{BB962C8B-B14F-4D97-AF65-F5344CB8AC3E}">
        <p14:creationId xmlns:p14="http://schemas.microsoft.com/office/powerpoint/2010/main" val="16221517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56B53B-F75D-449A-9788-A845B13A2F7A}"/>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300" b="1">
                <a:solidFill>
                  <a:srgbClr val="163139"/>
                </a:solidFill>
                <a:latin typeface="Arial"/>
                <a:ea typeface="Arial"/>
                <a:cs typeface="Arial"/>
              </a:defRPr>
            </a:defPPr>
            <a:lvl1pPr algn="l">
              <a:defRPr sz="3300" b="1">
                <a:solidFill>
                  <a:srgbClr val="163139"/>
                </a:solidFill>
                <a:latin typeface="Arial"/>
                <a:ea typeface="Arial"/>
                <a:cs typeface="Arial"/>
              </a:defRPr>
            </a:lvl1pPr>
            <a:lvl2pPr algn="l">
              <a:defRPr sz="3300" b="1">
                <a:solidFill>
                  <a:srgbClr val="163139"/>
                </a:solidFill>
                <a:latin typeface="Arial"/>
                <a:ea typeface="Arial"/>
                <a:cs typeface="Arial"/>
              </a:defRPr>
            </a:lvl2pPr>
            <a:lvl3pPr algn="l">
              <a:defRPr sz="3300" b="1">
                <a:solidFill>
                  <a:srgbClr val="163139"/>
                </a:solidFill>
                <a:latin typeface="Arial"/>
                <a:ea typeface="Arial"/>
                <a:cs typeface="Arial"/>
              </a:defRPr>
            </a:lvl3pPr>
            <a:lvl4pPr algn="l">
              <a:defRPr sz="3300" b="1">
                <a:solidFill>
                  <a:srgbClr val="163139"/>
                </a:solidFill>
                <a:latin typeface="Arial"/>
                <a:ea typeface="Arial"/>
                <a:cs typeface="Arial"/>
              </a:defRPr>
            </a:lvl4pPr>
            <a:lvl5pPr algn="l">
              <a:defRPr sz="3300" b="1">
                <a:solidFill>
                  <a:srgbClr val="163139"/>
                </a:solidFill>
                <a:latin typeface="Arial"/>
                <a:ea typeface="Arial"/>
                <a:cs typeface="Arial"/>
              </a:defRPr>
            </a:lvl5pPr>
            <a:lvl6pPr algn="l">
              <a:defRPr sz="3300" b="1">
                <a:solidFill>
                  <a:srgbClr val="163139"/>
                </a:solidFill>
                <a:latin typeface="Arial"/>
                <a:ea typeface="Arial"/>
                <a:cs typeface="Arial"/>
              </a:defRPr>
            </a:lvl6pPr>
            <a:lvl7pPr algn="l">
              <a:defRPr sz="3300" b="1">
                <a:solidFill>
                  <a:srgbClr val="163139"/>
                </a:solidFill>
                <a:latin typeface="Arial"/>
                <a:ea typeface="Arial"/>
                <a:cs typeface="Arial"/>
              </a:defRPr>
            </a:lvl7pPr>
            <a:lvl8pPr algn="l">
              <a:defRPr sz="3300" b="1">
                <a:solidFill>
                  <a:srgbClr val="163139"/>
                </a:solidFill>
                <a:latin typeface="Arial"/>
                <a:ea typeface="Arial"/>
                <a:cs typeface="Arial"/>
              </a:defRPr>
            </a:lvl8pPr>
            <a:lvl9pPr algn="l">
              <a:defRPr sz="3300" b="1">
                <a:solidFill>
                  <a:srgbClr val="163139"/>
                </a:solidFill>
                <a:latin typeface="Arial"/>
                <a:ea typeface="Arial"/>
                <a:cs typeface="Arial"/>
              </a:defRPr>
            </a:lvl9pPr>
          </a:lstStyle>
          <a:p xmlns:a="http://schemas.openxmlformats.org/drawingml/2006/main">
            <a:pPr algn="l">
              <a:defRPr sz="3300" b="1">
                <a:solidFill>
                  <a:srgbClr val="163139"/>
                </a:solidFill>
                <a:latin typeface="Arial"/>
                <a:ea typeface="Arial"/>
                <a:cs typeface="Arial"/>
              </a:defRPr>
            </a:pPr>
            <a:r>
              <a:rPr sz="3300" b="1">
                <a:solidFill>
                  <a:srgbClr val="163139"/>
                </a:solidFill>
                <a:latin typeface="Arial"/>
                <a:ea typeface="Arial"/>
                <a:cs typeface="Arial"/>
              </a:rPr>
              <a:t>Problem setup and research questions</a:t>
            </a:r>
          </a:p>
        </p:txBody>
      </p:sp>
      <p:sp>
        <p:nvSpPr>
          <p:cNvPr id="2" name="">
            <a:extLst xmlns:a="http://schemas.openxmlformats.org/drawingml/2006/main">
              <a:ext uri="{FF2B5EF4-FFF2-40B4-BE49-F238E27FC236}">
                <a16:creationId xmlns:a16="http://schemas.microsoft.com/office/drawing/2014/main" id="{2F73F15E-694B-47BE-9F64-2C465936F8AB}"/>
              </a:ext>
            </a:extLst>
          </p:cNvPr>
          <p:cNvSpPr>
            <a:spLocks xmlns:a="http://schemas.openxmlformats.org/drawingml/2006/main" noGrp="1"/>
          </p:cNvSpPr>
          <p:nvPr/>
        </p:nvSpPr>
        <p:spPr>
          <a:xfrm xmlns:a="http://schemas.openxmlformats.org/drawingml/2006/main">
            <a:off x="10810875" y="640080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275" b="0">
                <a:solidFill>
                  <a:srgbClr val="52666D"/>
                </a:solidFill>
                <a:latin typeface="Arial"/>
                <a:ea typeface="Arial"/>
                <a:cs typeface="Arial"/>
              </a:defRPr>
            </a:defPPr>
            <a:lvl1pPr algn="r">
              <a:defRPr sz="1275" b="0">
                <a:solidFill>
                  <a:srgbClr val="52666D"/>
                </a:solidFill>
                <a:latin typeface="Arial"/>
                <a:ea typeface="Arial"/>
                <a:cs typeface="Arial"/>
              </a:defRPr>
            </a:lvl1pPr>
            <a:lvl2pPr algn="r">
              <a:defRPr sz="1275" b="0">
                <a:solidFill>
                  <a:srgbClr val="52666D"/>
                </a:solidFill>
                <a:latin typeface="Arial"/>
                <a:ea typeface="Arial"/>
                <a:cs typeface="Arial"/>
              </a:defRPr>
            </a:lvl2pPr>
            <a:lvl3pPr algn="r">
              <a:defRPr sz="1275" b="0">
                <a:solidFill>
                  <a:srgbClr val="52666D"/>
                </a:solidFill>
                <a:latin typeface="Arial"/>
                <a:ea typeface="Arial"/>
                <a:cs typeface="Arial"/>
              </a:defRPr>
            </a:lvl3pPr>
            <a:lvl4pPr algn="r">
              <a:defRPr sz="1275" b="0">
                <a:solidFill>
                  <a:srgbClr val="52666D"/>
                </a:solidFill>
                <a:latin typeface="Arial"/>
                <a:ea typeface="Arial"/>
                <a:cs typeface="Arial"/>
              </a:defRPr>
            </a:lvl4pPr>
            <a:lvl5pPr algn="r">
              <a:defRPr sz="1275" b="0">
                <a:solidFill>
                  <a:srgbClr val="52666D"/>
                </a:solidFill>
                <a:latin typeface="Arial"/>
                <a:ea typeface="Arial"/>
                <a:cs typeface="Arial"/>
              </a:defRPr>
            </a:lvl5pPr>
            <a:lvl6pPr algn="r">
              <a:defRPr sz="1275" b="0">
                <a:solidFill>
                  <a:srgbClr val="52666D"/>
                </a:solidFill>
                <a:latin typeface="Arial"/>
                <a:ea typeface="Arial"/>
                <a:cs typeface="Arial"/>
              </a:defRPr>
            </a:lvl6pPr>
            <a:lvl7pPr algn="r">
              <a:defRPr sz="1275" b="0">
                <a:solidFill>
                  <a:srgbClr val="52666D"/>
                </a:solidFill>
                <a:latin typeface="Arial"/>
                <a:ea typeface="Arial"/>
                <a:cs typeface="Arial"/>
              </a:defRPr>
            </a:lvl7pPr>
            <a:lvl8pPr algn="r">
              <a:defRPr sz="1275" b="0">
                <a:solidFill>
                  <a:srgbClr val="52666D"/>
                </a:solidFill>
                <a:latin typeface="Arial"/>
                <a:ea typeface="Arial"/>
                <a:cs typeface="Arial"/>
              </a:defRPr>
            </a:lvl8pPr>
            <a:lvl9pPr algn="r">
              <a:defRPr sz="1275" b="0">
                <a:solidFill>
                  <a:srgbClr val="52666D"/>
                </a:solidFill>
                <a:latin typeface="Arial"/>
                <a:ea typeface="Arial"/>
                <a:cs typeface="Arial"/>
              </a:defRPr>
            </a:lvl9pPr>
          </a:lstStyle>
          <a:p xmlns:a="http://schemas.openxmlformats.org/drawingml/2006/main">
            <a:pPr algn="r">
              <a:defRPr sz="1275" b="0">
                <a:solidFill>
                  <a:srgbClr val="52666D"/>
                </a:solidFill>
                <a:latin typeface="Arial"/>
                <a:ea typeface="Arial"/>
                <a:cs typeface="Arial"/>
              </a:defRPr>
            </a:pPr>
            <a:r>
              <a:rPr sz="1275" b="0">
                <a:solidFill>
                  <a:srgbClr val="52666D"/>
                </a:solidFill>
                <a:latin typeface="Arial"/>
                <a:ea typeface="Arial"/>
                <a:cs typeface="Arial"/>
              </a:rPr>
              <a:t>2 / 6</a:t>
            </a:r>
          </a:p>
        </p:txBody>
      </p:sp>
      <p:sp>
        <p:nvSpPr>
          <p:cNvPr id="3" name="">
            <a:extLst xmlns:a="http://schemas.openxmlformats.org/drawingml/2006/main">
              <a:ext uri="{FF2B5EF4-FFF2-40B4-BE49-F238E27FC236}">
                <a16:creationId xmlns:a16="http://schemas.microsoft.com/office/drawing/2014/main" id="{1B090170-A035-4390-B440-EADB42A842B5}"/>
              </a:ext>
            </a:extLst>
          </p:cNvPr>
          <p:cNvSpPr>
            <a:spLocks xmlns:a="http://schemas.openxmlformats.org/drawingml/2006/main" noGrp="1"/>
          </p:cNvSpPr>
          <p:nvPr/>
        </p:nvSpPr>
        <p:spPr>
          <a:xfrm xmlns:a="http://schemas.openxmlformats.org/drawingml/2006/main">
            <a:off x="609600" y="12668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a:solidFill>
                  <a:srgbClr val="087E75"/>
                </a:solidFill>
                <a:latin typeface="Arial"/>
                <a:ea typeface="Arial"/>
                <a:cs typeface="Arial"/>
              </a:defRPr>
            </a:defPPr>
            <a:lvl1pPr algn="l">
              <a:defRPr sz="2100" b="1">
                <a:solidFill>
                  <a:srgbClr val="087E75"/>
                </a:solidFill>
                <a:latin typeface="Arial"/>
                <a:ea typeface="Arial"/>
                <a:cs typeface="Arial"/>
              </a:defRPr>
            </a:lvl1pPr>
            <a:lvl2pPr algn="l">
              <a:defRPr sz="2100" b="1">
                <a:solidFill>
                  <a:srgbClr val="087E75"/>
                </a:solidFill>
                <a:latin typeface="Arial"/>
                <a:ea typeface="Arial"/>
                <a:cs typeface="Arial"/>
              </a:defRPr>
            </a:lvl2pPr>
            <a:lvl3pPr algn="l">
              <a:defRPr sz="2100" b="1">
                <a:solidFill>
                  <a:srgbClr val="087E75"/>
                </a:solidFill>
                <a:latin typeface="Arial"/>
                <a:ea typeface="Arial"/>
                <a:cs typeface="Arial"/>
              </a:defRPr>
            </a:lvl3pPr>
            <a:lvl4pPr algn="l">
              <a:defRPr sz="2100" b="1">
                <a:solidFill>
                  <a:srgbClr val="087E75"/>
                </a:solidFill>
                <a:latin typeface="Arial"/>
                <a:ea typeface="Arial"/>
                <a:cs typeface="Arial"/>
              </a:defRPr>
            </a:lvl4pPr>
            <a:lvl5pPr algn="l">
              <a:defRPr sz="2100" b="1">
                <a:solidFill>
                  <a:srgbClr val="087E75"/>
                </a:solidFill>
                <a:latin typeface="Arial"/>
                <a:ea typeface="Arial"/>
                <a:cs typeface="Arial"/>
              </a:defRPr>
            </a:lvl5pPr>
            <a:lvl6pPr algn="l">
              <a:defRPr sz="2100" b="1">
                <a:solidFill>
                  <a:srgbClr val="087E75"/>
                </a:solidFill>
                <a:latin typeface="Arial"/>
                <a:ea typeface="Arial"/>
                <a:cs typeface="Arial"/>
              </a:defRPr>
            </a:lvl6pPr>
            <a:lvl7pPr algn="l">
              <a:defRPr sz="2100" b="1">
                <a:solidFill>
                  <a:srgbClr val="087E75"/>
                </a:solidFill>
                <a:latin typeface="Arial"/>
                <a:ea typeface="Arial"/>
                <a:cs typeface="Arial"/>
              </a:defRPr>
            </a:lvl7pPr>
            <a:lvl8pPr algn="l">
              <a:defRPr sz="2100" b="1">
                <a:solidFill>
                  <a:srgbClr val="087E75"/>
                </a:solidFill>
                <a:latin typeface="Arial"/>
                <a:ea typeface="Arial"/>
                <a:cs typeface="Arial"/>
              </a:defRPr>
            </a:lvl8pPr>
            <a:lvl9pPr algn="l">
              <a:defRPr sz="2100" b="1">
                <a:solidFill>
                  <a:srgbClr val="087E75"/>
                </a:solidFill>
                <a:latin typeface="Arial"/>
                <a:ea typeface="Arial"/>
                <a:cs typeface="Arial"/>
              </a:defRPr>
            </a:lvl9pPr>
          </a:lstStyle>
          <a:p xmlns:a="http://schemas.openxmlformats.org/drawingml/2006/main">
            <a:pPr algn="l">
              <a:defRPr sz="2100" b="1">
                <a:solidFill>
                  <a:srgbClr val="087E75"/>
                </a:solidFill>
                <a:latin typeface="Arial"/>
                <a:ea typeface="Arial"/>
                <a:cs typeface="Arial"/>
              </a:defRPr>
            </a:pPr>
            <a:r>
              <a:rPr sz="2100" b="1">
                <a:solidFill>
                  <a:srgbClr val="087E75"/>
                </a:solidFill>
                <a:latin typeface="Arial"/>
                <a:ea typeface="Arial"/>
                <a:cs typeface="Arial"/>
              </a:rPr>
              <a:t>Current task: sentence-level cue presence in BioScope abstracts</a:t>
            </a:r>
          </a:p>
        </p:txBody>
      </p:sp>
      <p:graphicFrame>
        <p:nvGraphicFramePr>
          <p:cNvPr id="4" name="">
            <a:extLst xmlns:a="http://schemas.openxmlformats.org/drawingml/2006/main">
              <a:ext uri="{FF2B5EF4-FFF2-40B4-BE49-F238E27FC236}">
                <a16:creationId xmlns:a16="http://schemas.microsoft.com/office/drawing/2014/main" id="{296FF6F5-104D-4E90-9316-5E7F0BFF6218}"/>
              </a:ext>
            </a:extLst>
          </p:cNvPr>
          <p:cNvGraphicFramePr/>
          <p:nvPr/>
        </p:nvGraphicFramePr>
        <p:xfrm>
          <a:off xmlns:a="http://schemas.openxmlformats.org/drawingml/2006/main" x="609600" y="1905000"/>
          <a:ext xmlns:a="http://schemas.openxmlformats.org/drawingml/2006/main" cx="10972800" cy="2362200"/>
        </p:xfrm>
        <a:graphic xmlns:a="http://schemas.openxmlformats.org/drawingml/2006/main">
          <a:graphicData uri="http://schemas.openxmlformats.org/drawingml/2006/table">
            <a:tbl>
              <a:tblPr/>
              <a:tblGrid>
                <a:gridCol w="2571750"/>
                <a:gridCol w="5524500"/>
                <a:gridCol w="2876550"/>
              </a:tblGrid>
              <a:tr h="590550">
                <a:tc>
                  <a:txBody>
                    <a:bodyPr lIns="114300" tIns="114300" rIns="114300" bIns="114300"/>
                    <a:lstStyle/>
                    <a:p>
                      <a:pPr algn="l"/>
                      <a:r>
                        <a:rPr sz="1875" b="1">
                          <a:solidFill>
                            <a:srgbClr val="FFFFFF"/>
                          </a:solidFill>
                          <a:latin typeface="Arial"/>
                          <a:ea typeface="Arial"/>
                          <a:cs typeface="Arial"/>
                        </a:rPr>
                        <a:t>Label</a:t>
                      </a:r>
                    </a:p>
                  </a:txBody>
                  <a:tcPr marL="91440" marR="91440" marT="45720" marB="45720" anchor="ctr">
                    <a:lnL w="9525">
                      <a:solidFill>
                        <a:srgbClr val="D7E3E2"/>
                      </a:solidFill>
                      <a:prstDash val="solid"/>
                    </a:lnL>
                    <a:lnR w="9525">
                      <a:solidFill>
                        <a:srgbClr val="D7E3E2"/>
                      </a:solidFill>
                      <a:prstDash val="solid"/>
                    </a:lnR>
                    <a:lnT w="9525">
                      <a:solidFill>
                        <a:srgbClr val="D7E3E2"/>
                      </a:solidFill>
                      <a:prstDash val="solid"/>
                    </a:lnT>
                    <a:lnB w="9525">
                      <a:solidFill>
                        <a:srgbClr val="D7E3E2"/>
                      </a:solidFill>
                      <a:prstDash val="solid"/>
                    </a:lnB>
                    <a:solidFill>
                      <a:srgbClr val="163139"/>
                    </a:solidFill>
                  </a:tcPr>
                </a:tc>
                <a:tc>
                  <a:txBody>
                    <a:bodyPr lIns="114300" tIns="114300" rIns="114300" bIns="114300"/>
                    <a:lstStyle/>
                    <a:p>
                      <a:pPr algn="ctr"/>
                      <a:r>
                        <a:rPr sz="1875" b="1">
                          <a:solidFill>
                            <a:srgbClr val="FFFFFF"/>
                          </a:solidFill>
                          <a:latin typeface="Arial"/>
                          <a:ea typeface="Arial"/>
                          <a:cs typeface="Arial"/>
                        </a:rPr>
                        <a:t>Definition</a:t>
                      </a:r>
                    </a:p>
                  </a:txBody>
                  <a:tcPr marL="91440" marR="91440" marT="45720" marB="45720" anchor="ctr">
                    <a:lnR w="9525">
                      <a:solidFill>
                        <a:srgbClr val="D7E3E2"/>
                      </a:solidFill>
                      <a:prstDash val="solid"/>
                    </a:lnR>
                    <a:lnT w="9525">
                      <a:solidFill>
                        <a:srgbClr val="D7E3E2"/>
                      </a:solidFill>
                      <a:prstDash val="solid"/>
                    </a:lnT>
                    <a:lnB w="9525">
                      <a:solidFill>
                        <a:srgbClr val="D7E3E2"/>
                      </a:solidFill>
                      <a:prstDash val="solid"/>
                    </a:lnB>
                    <a:solidFill>
                      <a:srgbClr val="163139"/>
                    </a:solidFill>
                  </a:tcPr>
                </a:tc>
                <a:tc>
                  <a:txBody>
                    <a:bodyPr lIns="114300" tIns="114300" rIns="114300" bIns="114300"/>
                    <a:lstStyle/>
                    <a:p>
                      <a:pPr algn="ctr"/>
                      <a:r>
                        <a:rPr sz="1875" b="1">
                          <a:solidFill>
                            <a:srgbClr val="FFFFFF"/>
                          </a:solidFill>
                          <a:latin typeface="Arial"/>
                          <a:ea typeface="Arial"/>
                          <a:cs typeface="Arial"/>
                        </a:rPr>
                        <a:t>Retained sentences</a:t>
                      </a:r>
                    </a:p>
                  </a:txBody>
                  <a:tcPr marL="91440" marR="91440" marT="45720" marB="45720" anchor="ctr">
                    <a:lnR w="9525">
                      <a:solidFill>
                        <a:srgbClr val="D7E3E2"/>
                      </a:solidFill>
                      <a:prstDash val="solid"/>
                    </a:lnR>
                    <a:lnT w="9525">
                      <a:solidFill>
                        <a:srgbClr val="D7E3E2"/>
                      </a:solidFill>
                      <a:prstDash val="solid"/>
                    </a:lnT>
                    <a:lnB w="9525">
                      <a:solidFill>
                        <a:srgbClr val="D7E3E2"/>
                      </a:solidFill>
                      <a:prstDash val="solid"/>
                    </a:lnB>
                    <a:solidFill>
                      <a:srgbClr val="163139"/>
                    </a:solidFill>
                  </a:tcPr>
                </a:tc>
              </a:tr>
              <a:tr h="590550">
                <a:tc>
                  <a:txBody>
                    <a:bodyPr lIns="114300" tIns="114300" rIns="114300" bIns="114300"/>
                    <a:lstStyle/>
                    <a:p>
                      <a:pPr algn="l"/>
                      <a:r>
                        <a:rPr sz="1875" b="0">
                          <a:solidFill>
                            <a:srgbClr val="163139"/>
                          </a:solidFill>
                          <a:latin typeface="Arial"/>
                          <a:ea typeface="Arial"/>
                          <a:cs typeface="Arial"/>
                        </a:rPr>
                        <a:t>No cue</a:t>
                      </a:r>
                    </a:p>
                  </a:txBody>
                  <a:tcPr marL="91440" marR="91440" marT="45720" marB="45720" anchor="ctr">
                    <a:lnL w="9525">
                      <a:solidFill>
                        <a:srgbClr val="D7E3E2"/>
                      </a:solidFill>
                      <a:prstDash val="solid"/>
                    </a:lnL>
                    <a:lnR w="9525">
                      <a:solidFill>
                        <a:srgbClr val="D7E3E2"/>
                      </a:solidFill>
                      <a:prstDash val="solid"/>
                    </a:lnR>
                    <a:lnB w="9525">
                      <a:solidFill>
                        <a:srgbClr val="D7E3E2"/>
                      </a:solidFill>
                      <a:prstDash val="solid"/>
                    </a:lnB>
                    <a:solidFill>
                      <a:srgbClr val="F2F7F6"/>
                    </a:solidFill>
                  </a:tcPr>
                </a:tc>
                <a:tc>
                  <a:txBody>
                    <a:bodyPr lIns="114300" tIns="114300" rIns="114300" bIns="114300"/>
                    <a:lstStyle/>
                    <a:p>
                      <a:pPr algn="ctr"/>
                      <a:r>
                        <a:rPr sz="1875" b="0">
                          <a:solidFill>
                            <a:srgbClr val="163139"/>
                          </a:solidFill>
                          <a:latin typeface="Arial"/>
                          <a:ea typeface="Arial"/>
                          <a:cs typeface="Arial"/>
                        </a:rPr>
                        <a:t>Neither annotated cue type</a:t>
                      </a:r>
                    </a:p>
                  </a:txBody>
                  <a:tcPr marL="91440" marR="91440" marT="45720" marB="45720" anchor="ctr">
                    <a:lnR w="9525">
                      <a:solidFill>
                        <a:srgbClr val="D7E3E2"/>
                      </a:solidFill>
                      <a:prstDash val="solid"/>
                    </a:lnR>
                    <a:lnB w="9525">
                      <a:solidFill>
                        <a:srgbClr val="D7E3E2"/>
                      </a:solidFill>
                      <a:prstDash val="solid"/>
                    </a:lnB>
                    <a:solidFill>
                      <a:srgbClr val="F2F7F6"/>
                    </a:solidFill>
                  </a:tcPr>
                </a:tc>
                <a:tc>
                  <a:txBody>
                    <a:bodyPr lIns="114300" tIns="114300" rIns="114300" bIns="114300"/>
                    <a:lstStyle/>
                    <a:p>
                      <a:pPr algn="ctr"/>
                      <a:r>
                        <a:rPr sz="1875" b="0">
                          <a:solidFill>
                            <a:srgbClr val="163139"/>
                          </a:solidFill>
                          <a:latin typeface="Arial"/>
                          <a:ea typeface="Arial"/>
                          <a:cs typeface="Arial"/>
                        </a:rPr>
                        <a:t>8,452</a:t>
                      </a:r>
                    </a:p>
                  </a:txBody>
                  <a:tcPr marL="91440" marR="91440" marT="45720" marB="45720" anchor="ctr">
                    <a:lnR w="9525">
                      <a:solidFill>
                        <a:srgbClr val="D7E3E2"/>
                      </a:solidFill>
                      <a:prstDash val="solid"/>
                    </a:lnR>
                    <a:lnB w="9525">
                      <a:solidFill>
                        <a:srgbClr val="D7E3E2"/>
                      </a:solidFill>
                      <a:prstDash val="solid"/>
                    </a:lnB>
                    <a:solidFill>
                      <a:srgbClr val="F2F7F6"/>
                    </a:solidFill>
                  </a:tcPr>
                </a:tc>
              </a:tr>
              <a:tr h="590550">
                <a:tc>
                  <a:txBody>
                    <a:bodyPr lIns="114300" tIns="114300" rIns="114300" bIns="114300"/>
                    <a:lstStyle/>
                    <a:p>
                      <a:pPr algn="l"/>
                      <a:r>
                        <a:rPr sz="1875" b="0">
                          <a:solidFill>
                            <a:srgbClr val="163139"/>
                          </a:solidFill>
                          <a:latin typeface="Arial"/>
                          <a:ea typeface="Arial"/>
                          <a:cs typeface="Arial"/>
                        </a:rPr>
                        <a:t>Negation only</a:t>
                      </a:r>
                    </a:p>
                  </a:txBody>
                  <a:tcPr marL="91440" marR="91440" marT="45720" marB="45720" anchor="ctr">
                    <a:lnL w="9525">
                      <a:solidFill>
                        <a:srgbClr val="D7E3E2"/>
                      </a:solidFill>
                      <a:prstDash val="solid"/>
                    </a:lnL>
                    <a:lnR w="9525">
                      <a:solidFill>
                        <a:srgbClr val="D7E3E2"/>
                      </a:solidFill>
                      <a:prstDash val="solid"/>
                    </a:lnR>
                    <a:lnB w="9525">
                      <a:solidFill>
                        <a:srgbClr val="D7E3E2"/>
                      </a:solidFill>
                      <a:prstDash val="solid"/>
                    </a:lnB>
                    <a:solidFill>
                      <a:srgbClr val="FFFFFF"/>
                    </a:solidFill>
                  </a:tcPr>
                </a:tc>
                <a:tc>
                  <a:txBody>
                    <a:bodyPr lIns="114300" tIns="114300" rIns="114300" bIns="114300"/>
                    <a:lstStyle/>
                    <a:p>
                      <a:pPr algn="ctr"/>
                      <a:r>
                        <a:rPr sz="1875" b="0">
                          <a:solidFill>
                            <a:srgbClr val="163139"/>
                          </a:solidFill>
                          <a:latin typeface="Arial"/>
                          <a:ea typeface="Arial"/>
                          <a:cs typeface="Arial"/>
                        </a:rPr>
                        <a:t>Negation cue, no speculation cue</a:t>
                      </a:r>
                    </a:p>
                  </a:txBody>
                  <a:tcPr marL="91440" marR="91440" marT="45720" marB="45720" anchor="ctr">
                    <a:lnR w="9525">
                      <a:solidFill>
                        <a:srgbClr val="D7E3E2"/>
                      </a:solidFill>
                      <a:prstDash val="solid"/>
                    </a:lnR>
                    <a:lnB w="9525">
                      <a:solidFill>
                        <a:srgbClr val="D7E3E2"/>
                      </a:solidFill>
                      <a:prstDash val="solid"/>
                    </a:lnB>
                    <a:solidFill>
                      <a:srgbClr val="FFFFFF"/>
                    </a:solidFill>
                  </a:tcPr>
                </a:tc>
                <a:tc>
                  <a:txBody>
                    <a:bodyPr lIns="114300" tIns="114300" rIns="114300" bIns="114300"/>
                    <a:lstStyle/>
                    <a:p>
                      <a:pPr algn="ctr"/>
                      <a:r>
                        <a:rPr sz="1875" b="0">
                          <a:solidFill>
                            <a:srgbClr val="163139"/>
                          </a:solidFill>
                          <a:latin typeface="Arial"/>
                          <a:ea typeface="Arial"/>
                          <a:cs typeface="Arial"/>
                        </a:rPr>
                        <a:t>1,301</a:t>
                      </a:r>
                    </a:p>
                  </a:txBody>
                  <a:tcPr marL="91440" marR="91440" marT="45720" marB="45720" anchor="ctr">
                    <a:lnR w="9525">
                      <a:solidFill>
                        <a:srgbClr val="D7E3E2"/>
                      </a:solidFill>
                      <a:prstDash val="solid"/>
                    </a:lnR>
                    <a:lnB w="9525">
                      <a:solidFill>
                        <a:srgbClr val="D7E3E2"/>
                      </a:solidFill>
                      <a:prstDash val="solid"/>
                    </a:lnB>
                    <a:solidFill>
                      <a:srgbClr val="FFFFFF"/>
                    </a:solidFill>
                  </a:tcPr>
                </a:tc>
              </a:tr>
              <a:tr h="590550">
                <a:tc>
                  <a:txBody>
                    <a:bodyPr lIns="114300" tIns="114300" rIns="114300" bIns="114300"/>
                    <a:lstStyle/>
                    <a:p>
                      <a:pPr algn="l"/>
                      <a:r>
                        <a:rPr sz="1875" b="0">
                          <a:solidFill>
                            <a:srgbClr val="163139"/>
                          </a:solidFill>
                          <a:latin typeface="Arial"/>
                          <a:ea typeface="Arial"/>
                          <a:cs typeface="Arial"/>
                        </a:rPr>
                        <a:t>Speculation only</a:t>
                      </a:r>
                    </a:p>
                  </a:txBody>
                  <a:tcPr marL="91440" marR="91440" marT="45720" marB="45720" anchor="ctr">
                    <a:lnL w="9525">
                      <a:solidFill>
                        <a:srgbClr val="D7E3E2"/>
                      </a:solidFill>
                      <a:prstDash val="solid"/>
                    </a:lnL>
                    <a:lnR w="9525">
                      <a:solidFill>
                        <a:srgbClr val="D7E3E2"/>
                      </a:solidFill>
                      <a:prstDash val="solid"/>
                    </a:lnR>
                    <a:lnB w="9525">
                      <a:solidFill>
                        <a:srgbClr val="D7E3E2"/>
                      </a:solidFill>
                      <a:prstDash val="solid"/>
                    </a:lnB>
                    <a:solidFill>
                      <a:srgbClr val="F2F7F6"/>
                    </a:solidFill>
                  </a:tcPr>
                </a:tc>
                <a:tc>
                  <a:txBody>
                    <a:bodyPr lIns="114300" tIns="114300" rIns="114300" bIns="114300"/>
                    <a:lstStyle/>
                    <a:p>
                      <a:pPr algn="ctr"/>
                      <a:r>
                        <a:rPr sz="1875" b="0">
                          <a:solidFill>
                            <a:srgbClr val="163139"/>
                          </a:solidFill>
                          <a:latin typeface="Arial"/>
                          <a:ea typeface="Arial"/>
                          <a:cs typeface="Arial"/>
                        </a:rPr>
                        <a:t>Speculation cue, no negation cue</a:t>
                      </a:r>
                    </a:p>
                  </a:txBody>
                  <a:tcPr marL="91440" marR="91440" marT="45720" marB="45720" anchor="ctr">
                    <a:lnR w="9525">
                      <a:solidFill>
                        <a:srgbClr val="D7E3E2"/>
                      </a:solidFill>
                      <a:prstDash val="solid"/>
                    </a:lnR>
                    <a:lnB w="9525">
                      <a:solidFill>
                        <a:srgbClr val="D7E3E2"/>
                      </a:solidFill>
                      <a:prstDash val="solid"/>
                    </a:lnB>
                    <a:solidFill>
                      <a:srgbClr val="F2F7F6"/>
                    </a:solidFill>
                  </a:tcPr>
                </a:tc>
                <a:tc>
                  <a:txBody>
                    <a:bodyPr lIns="114300" tIns="114300" rIns="114300" bIns="114300"/>
                    <a:lstStyle/>
                    <a:p>
                      <a:pPr algn="ctr"/>
                      <a:r>
                        <a:rPr sz="1875" b="0">
                          <a:solidFill>
                            <a:srgbClr val="163139"/>
                          </a:solidFill>
                          <a:latin typeface="Arial"/>
                          <a:ea typeface="Arial"/>
                          <a:cs typeface="Arial"/>
                        </a:rPr>
                        <a:t>1,806</a:t>
                      </a:r>
                    </a:p>
                  </a:txBody>
                  <a:tcPr marL="91440" marR="91440" marT="45720" marB="45720" anchor="ctr">
                    <a:lnR w="9525">
                      <a:solidFill>
                        <a:srgbClr val="D7E3E2"/>
                      </a:solidFill>
                      <a:prstDash val="solid"/>
                    </a:lnR>
                    <a:lnB w="9525">
                      <a:solidFill>
                        <a:srgbClr val="D7E3E2"/>
                      </a:solidFill>
                      <a:prstDash val="solid"/>
                    </a:lnB>
                    <a:solidFill>
                      <a:srgbClr val="F2F7F6"/>
                    </a:solidFill>
                  </a:tcPr>
                </a:tc>
              </a:tr>
            </a:tbl>
          </a:graphicData>
        </a:graphic>
      </p:graphicFrame>
      <p:sp>
        <p:nvSpPr>
          <p:cNvPr id="5" name="">
            <a:extLst xmlns:a="http://schemas.openxmlformats.org/drawingml/2006/main">
              <a:ext uri="{FF2B5EF4-FFF2-40B4-BE49-F238E27FC236}">
                <a16:creationId xmlns:a16="http://schemas.microsoft.com/office/drawing/2014/main" id="{4441C9B6-CEA4-4A8A-A790-AF32CFFDAA8A}"/>
              </a:ext>
            </a:extLst>
          </p:cNvPr>
          <p:cNvSpPr>
            <a:spLocks xmlns:a="http://schemas.openxmlformats.org/drawingml/2006/main" noGrp="1"/>
          </p:cNvSpPr>
          <p:nvPr/>
        </p:nvSpPr>
        <p:spPr>
          <a:xfrm xmlns:a="http://schemas.openxmlformats.org/drawingml/2006/main">
            <a:off x="609600" y="45624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63139"/>
                </a:solidFill>
                <a:latin typeface="Arial"/>
                <a:ea typeface="Arial"/>
                <a:cs typeface="Arial"/>
              </a:defRPr>
            </a:defPPr>
            <a:lvl1pPr algn="l">
              <a:defRPr sz="2025" b="0">
                <a:solidFill>
                  <a:srgbClr val="163139"/>
                </a:solidFill>
                <a:latin typeface="Arial"/>
                <a:ea typeface="Arial"/>
                <a:cs typeface="Arial"/>
              </a:defRPr>
            </a:lvl1pPr>
            <a:lvl2pPr algn="l">
              <a:defRPr sz="2025" b="0">
                <a:solidFill>
                  <a:srgbClr val="163139"/>
                </a:solidFill>
                <a:latin typeface="Arial"/>
                <a:ea typeface="Arial"/>
                <a:cs typeface="Arial"/>
              </a:defRPr>
            </a:lvl2pPr>
            <a:lvl3pPr algn="l">
              <a:defRPr sz="2025" b="0">
                <a:solidFill>
                  <a:srgbClr val="163139"/>
                </a:solidFill>
                <a:latin typeface="Arial"/>
                <a:ea typeface="Arial"/>
                <a:cs typeface="Arial"/>
              </a:defRPr>
            </a:lvl3pPr>
            <a:lvl4pPr algn="l">
              <a:defRPr sz="2025" b="0">
                <a:solidFill>
                  <a:srgbClr val="163139"/>
                </a:solidFill>
                <a:latin typeface="Arial"/>
                <a:ea typeface="Arial"/>
                <a:cs typeface="Arial"/>
              </a:defRPr>
            </a:lvl4pPr>
            <a:lvl5pPr algn="l">
              <a:defRPr sz="2025" b="0">
                <a:solidFill>
                  <a:srgbClr val="163139"/>
                </a:solidFill>
                <a:latin typeface="Arial"/>
                <a:ea typeface="Arial"/>
                <a:cs typeface="Arial"/>
              </a:defRPr>
            </a:lvl5pPr>
            <a:lvl6pPr algn="l">
              <a:defRPr sz="2025" b="0">
                <a:solidFill>
                  <a:srgbClr val="163139"/>
                </a:solidFill>
                <a:latin typeface="Arial"/>
                <a:ea typeface="Arial"/>
                <a:cs typeface="Arial"/>
              </a:defRPr>
            </a:lvl6pPr>
            <a:lvl7pPr algn="l">
              <a:defRPr sz="2025" b="0">
                <a:solidFill>
                  <a:srgbClr val="163139"/>
                </a:solidFill>
                <a:latin typeface="Arial"/>
                <a:ea typeface="Arial"/>
                <a:cs typeface="Arial"/>
              </a:defRPr>
            </a:lvl7pPr>
            <a:lvl8pPr algn="l">
              <a:defRPr sz="2025" b="0">
                <a:solidFill>
                  <a:srgbClr val="163139"/>
                </a:solidFill>
                <a:latin typeface="Arial"/>
                <a:ea typeface="Arial"/>
                <a:cs typeface="Arial"/>
              </a:defRPr>
            </a:lvl8pPr>
            <a:lvl9pPr algn="l">
              <a:defRPr sz="2025" b="0">
                <a:solidFill>
                  <a:srgbClr val="163139"/>
                </a:solidFill>
                <a:latin typeface="Arial"/>
                <a:ea typeface="Arial"/>
                <a:cs typeface="Arial"/>
              </a:defRPr>
            </a:lvl9pPr>
          </a:lstStyle>
          <a:p xmlns:a="http://schemas.openxmlformats.org/drawingml/2006/main">
            <a:pPr algn="l">
              <a:defRPr sz="2025" b="0">
                <a:solidFill>
                  <a:srgbClr val="163139"/>
                </a:solidFill>
                <a:latin typeface="Arial"/>
                <a:ea typeface="Arial"/>
                <a:cs typeface="Arial"/>
              </a:defRPr>
            </a:pPr>
            <a:r>
              <a:rPr sz="2025" b="0">
                <a:solidFill>
                  <a:srgbClr val="163139"/>
                </a:solidFill>
                <a:latin typeface="Arial"/>
                <a:ea typeface="Arial"/>
                <a:cs typeface="Arial"/>
              </a:rPr>
              <a:t>RQ1  Which frozen features support this cue-detection task?</a:t>
            </a:r>
          </a:p>
        </p:txBody>
      </p:sp>
      <p:sp>
        <p:nvSpPr>
          <p:cNvPr id="6" name="">
            <a:extLst xmlns:a="http://schemas.openxmlformats.org/drawingml/2006/main">
              <a:ext uri="{FF2B5EF4-FFF2-40B4-BE49-F238E27FC236}">
                <a16:creationId xmlns:a16="http://schemas.microsoft.com/office/drawing/2014/main" id="{A2B3D02C-56AC-4F04-B037-18FC386C654F}"/>
              </a:ext>
            </a:extLst>
          </p:cNvPr>
          <p:cNvSpPr>
            <a:spLocks xmlns:a="http://schemas.openxmlformats.org/drawingml/2006/main" noGrp="1"/>
          </p:cNvSpPr>
          <p:nvPr/>
        </p:nvSpPr>
        <p:spPr>
          <a:xfrm xmlns:a="http://schemas.openxmlformats.org/drawingml/2006/main">
            <a:off x="609600" y="50482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63139"/>
                </a:solidFill>
                <a:latin typeface="Arial"/>
                <a:ea typeface="Arial"/>
                <a:cs typeface="Arial"/>
              </a:defRPr>
            </a:defPPr>
            <a:lvl1pPr algn="l">
              <a:defRPr sz="2025" b="0">
                <a:solidFill>
                  <a:srgbClr val="163139"/>
                </a:solidFill>
                <a:latin typeface="Arial"/>
                <a:ea typeface="Arial"/>
                <a:cs typeface="Arial"/>
              </a:defRPr>
            </a:lvl1pPr>
            <a:lvl2pPr algn="l">
              <a:defRPr sz="2025" b="0">
                <a:solidFill>
                  <a:srgbClr val="163139"/>
                </a:solidFill>
                <a:latin typeface="Arial"/>
                <a:ea typeface="Arial"/>
                <a:cs typeface="Arial"/>
              </a:defRPr>
            </a:lvl2pPr>
            <a:lvl3pPr algn="l">
              <a:defRPr sz="2025" b="0">
                <a:solidFill>
                  <a:srgbClr val="163139"/>
                </a:solidFill>
                <a:latin typeface="Arial"/>
                <a:ea typeface="Arial"/>
                <a:cs typeface="Arial"/>
              </a:defRPr>
            </a:lvl3pPr>
            <a:lvl4pPr algn="l">
              <a:defRPr sz="2025" b="0">
                <a:solidFill>
                  <a:srgbClr val="163139"/>
                </a:solidFill>
                <a:latin typeface="Arial"/>
                <a:ea typeface="Arial"/>
                <a:cs typeface="Arial"/>
              </a:defRPr>
            </a:lvl4pPr>
            <a:lvl5pPr algn="l">
              <a:defRPr sz="2025" b="0">
                <a:solidFill>
                  <a:srgbClr val="163139"/>
                </a:solidFill>
                <a:latin typeface="Arial"/>
                <a:ea typeface="Arial"/>
                <a:cs typeface="Arial"/>
              </a:defRPr>
            </a:lvl5pPr>
            <a:lvl6pPr algn="l">
              <a:defRPr sz="2025" b="0">
                <a:solidFill>
                  <a:srgbClr val="163139"/>
                </a:solidFill>
                <a:latin typeface="Arial"/>
                <a:ea typeface="Arial"/>
                <a:cs typeface="Arial"/>
              </a:defRPr>
            </a:lvl6pPr>
            <a:lvl7pPr algn="l">
              <a:defRPr sz="2025" b="0">
                <a:solidFill>
                  <a:srgbClr val="163139"/>
                </a:solidFill>
                <a:latin typeface="Arial"/>
                <a:ea typeface="Arial"/>
                <a:cs typeface="Arial"/>
              </a:defRPr>
            </a:lvl7pPr>
            <a:lvl8pPr algn="l">
              <a:defRPr sz="2025" b="0">
                <a:solidFill>
                  <a:srgbClr val="163139"/>
                </a:solidFill>
                <a:latin typeface="Arial"/>
                <a:ea typeface="Arial"/>
                <a:cs typeface="Arial"/>
              </a:defRPr>
            </a:lvl8pPr>
            <a:lvl9pPr algn="l">
              <a:defRPr sz="2025" b="0">
                <a:solidFill>
                  <a:srgbClr val="163139"/>
                </a:solidFill>
                <a:latin typeface="Arial"/>
                <a:ea typeface="Arial"/>
                <a:cs typeface="Arial"/>
              </a:defRPr>
            </a:lvl9pPr>
          </a:lstStyle>
          <a:p xmlns:a="http://schemas.openxmlformats.org/drawingml/2006/main">
            <a:pPr algn="l">
              <a:defRPr sz="2025" b="0">
                <a:solidFill>
                  <a:srgbClr val="163139"/>
                </a:solidFill>
                <a:latin typeface="Arial"/>
                <a:ea typeface="Arial"/>
                <a:cs typeface="Arial"/>
              </a:defRPr>
            </a:pPr>
            <a:r>
              <a:rPr sz="2025" b="0">
                <a:solidFill>
                  <a:srgbClr val="163139"/>
                </a:solidFill>
                <a:latin typeface="Arial"/>
                <a:ea typeface="Arial"/>
                <a:cs typeface="Arial"/>
              </a:rPr>
              <a:t>RQ2  How do results change with fewer training labels?</a:t>
            </a:r>
          </a:p>
        </p:txBody>
      </p:sp>
      <p:sp>
        <p:nvSpPr>
          <p:cNvPr id="7" name="">
            <a:extLst xmlns:a="http://schemas.openxmlformats.org/drawingml/2006/main">
              <a:ext uri="{FF2B5EF4-FFF2-40B4-BE49-F238E27FC236}">
                <a16:creationId xmlns:a16="http://schemas.microsoft.com/office/drawing/2014/main" id="{A867F543-9DA8-4BEE-962F-22C5BE778A8C}"/>
              </a:ext>
            </a:extLst>
          </p:cNvPr>
          <p:cNvSpPr>
            <a:spLocks xmlns:a="http://schemas.openxmlformats.org/drawingml/2006/main" noGrp="1"/>
          </p:cNvSpPr>
          <p:nvPr/>
        </p:nvSpPr>
        <p:spPr>
          <a:xfrm xmlns:a="http://schemas.openxmlformats.org/drawingml/2006/main">
            <a:off x="609600" y="5534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52666D"/>
                </a:solidFill>
                <a:latin typeface="Arial"/>
                <a:ea typeface="Arial"/>
                <a:cs typeface="Arial"/>
              </a:defRPr>
            </a:defPPr>
            <a:lvl1pPr algn="l">
              <a:defRPr sz="2025" b="0">
                <a:solidFill>
                  <a:srgbClr val="52666D"/>
                </a:solidFill>
                <a:latin typeface="Arial"/>
                <a:ea typeface="Arial"/>
                <a:cs typeface="Arial"/>
              </a:defRPr>
            </a:lvl1pPr>
            <a:lvl2pPr algn="l">
              <a:defRPr sz="2025" b="0">
                <a:solidFill>
                  <a:srgbClr val="52666D"/>
                </a:solidFill>
                <a:latin typeface="Arial"/>
                <a:ea typeface="Arial"/>
                <a:cs typeface="Arial"/>
              </a:defRPr>
            </a:lvl2pPr>
            <a:lvl3pPr algn="l">
              <a:defRPr sz="2025" b="0">
                <a:solidFill>
                  <a:srgbClr val="52666D"/>
                </a:solidFill>
                <a:latin typeface="Arial"/>
                <a:ea typeface="Arial"/>
                <a:cs typeface="Arial"/>
              </a:defRPr>
            </a:lvl3pPr>
            <a:lvl4pPr algn="l">
              <a:defRPr sz="2025" b="0">
                <a:solidFill>
                  <a:srgbClr val="52666D"/>
                </a:solidFill>
                <a:latin typeface="Arial"/>
                <a:ea typeface="Arial"/>
                <a:cs typeface="Arial"/>
              </a:defRPr>
            </a:lvl4pPr>
            <a:lvl5pPr algn="l">
              <a:defRPr sz="2025" b="0">
                <a:solidFill>
                  <a:srgbClr val="52666D"/>
                </a:solidFill>
                <a:latin typeface="Arial"/>
                <a:ea typeface="Arial"/>
                <a:cs typeface="Arial"/>
              </a:defRPr>
            </a:lvl5pPr>
            <a:lvl6pPr algn="l">
              <a:defRPr sz="2025" b="0">
                <a:solidFill>
                  <a:srgbClr val="52666D"/>
                </a:solidFill>
                <a:latin typeface="Arial"/>
                <a:ea typeface="Arial"/>
                <a:cs typeface="Arial"/>
              </a:defRPr>
            </a:lvl6pPr>
            <a:lvl7pPr algn="l">
              <a:defRPr sz="2025" b="0">
                <a:solidFill>
                  <a:srgbClr val="52666D"/>
                </a:solidFill>
                <a:latin typeface="Arial"/>
                <a:ea typeface="Arial"/>
                <a:cs typeface="Arial"/>
              </a:defRPr>
            </a:lvl7pPr>
            <a:lvl8pPr algn="l">
              <a:defRPr sz="2025" b="0">
                <a:solidFill>
                  <a:srgbClr val="52666D"/>
                </a:solidFill>
                <a:latin typeface="Arial"/>
                <a:ea typeface="Arial"/>
                <a:cs typeface="Arial"/>
              </a:defRPr>
            </a:lvl8pPr>
            <a:lvl9pPr algn="l">
              <a:defRPr sz="2025" b="0">
                <a:solidFill>
                  <a:srgbClr val="52666D"/>
                </a:solidFill>
                <a:latin typeface="Arial"/>
                <a:ea typeface="Arial"/>
                <a:cs typeface="Arial"/>
              </a:defRPr>
            </a:lvl9pPr>
          </a:lstStyle>
          <a:p xmlns:a="http://schemas.openxmlformats.org/drawingml/2006/main">
            <a:pPr algn="l">
              <a:defRPr sz="2025" b="0">
                <a:solidFill>
                  <a:srgbClr val="52666D"/>
                </a:solidFill>
                <a:latin typeface="Arial"/>
                <a:ea typeface="Arial"/>
                <a:cs typeface="Arial"/>
              </a:defRPr>
            </a:pPr>
            <a:r>
              <a:rPr sz="2025" b="0">
                <a:solidFill>
                  <a:srgbClr val="52666D"/>
                </a:solidFill>
                <a:latin typeface="Arial"/>
                <a:ea typeface="Arial"/>
                <a:cs typeface="Arial"/>
              </a:rPr>
              <a:t>RQ3  Unseen diseases require additional target-level annotations</a:t>
            </a:r>
          </a:p>
        </p:txBody>
      </p:sp>
    </p:spTree>
    <p:extLst>
      <p:ext uri="{BB962C8B-B14F-4D97-AF65-F5344CB8AC3E}">
        <p14:creationId xmlns:p14="http://schemas.microsoft.com/office/powerpoint/2010/main" val="16874394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9DC8DDB8-85BB-4FF8-9688-3FD244131A84}"/>
              </a:ext>
            </a:extLst>
          </p:cNvPr>
          <p:cNvCxnSpPr>
            <a:stCxn xmlns:a="http://schemas.openxmlformats.org/drawingml/2006/main" id="5" idx="3"/>
            <a:endCxn xmlns:a="http://schemas.openxmlformats.org/drawingml/2006/main" id="6" idx="1"/>
          </p:cNvCxnSpPr>
          <p:nvPr/>
        </p:nvCxnSpPr>
        <p:spPr>
          <a:xfrm xmlns:a="http://schemas.openxmlformats.org/drawingml/2006/main">
            <a:off x="8743950" y="2343150"/>
            <a:ext cx="381000" cy="0"/>
          </a:xfrm>
          <a:prstGeom xmlns:a="http://schemas.openxmlformats.org/drawingml/2006/main" prst="straightConnector1">
            <a:avLst/>
          </a:prstGeom>
          <a:ln xmlns:a="http://schemas.openxmlformats.org/drawingml/2006/main" w="19050">
            <a:solidFill>
              <a:srgbClr val="087E75"/>
            </a:solidFill>
            <a:tailEnd type="arrow" w="med" len="med"/>
          </a:ln>
        </p:spPr>
      </p:cxnSp>
      <p:cxnSp>
        <p:nvCxnSpPr>
          <p:cNvPr id="8" name="">
            <a:extLst xmlns:a="http://schemas.openxmlformats.org/drawingml/2006/main">
              <a:ext uri="{FF2B5EF4-FFF2-40B4-BE49-F238E27FC236}">
                <a16:creationId xmlns:a16="http://schemas.microsoft.com/office/drawing/2014/main" id="{B7BFE03D-4933-4AE8-A5E4-E34A2CDEAEBA}"/>
              </a:ext>
            </a:extLst>
          </p:cNvPr>
          <p:cNvCxnSpPr>
            <a:stCxn xmlns:a="http://schemas.openxmlformats.org/drawingml/2006/main" id="4" idx="3"/>
            <a:endCxn xmlns:a="http://schemas.openxmlformats.org/drawingml/2006/main" id="5" idx="1"/>
          </p:cNvCxnSpPr>
          <p:nvPr/>
        </p:nvCxnSpPr>
        <p:spPr>
          <a:xfrm xmlns:a="http://schemas.openxmlformats.org/drawingml/2006/main">
            <a:off x="5905500" y="2343150"/>
            <a:ext cx="381000" cy="0"/>
          </a:xfrm>
          <a:prstGeom xmlns:a="http://schemas.openxmlformats.org/drawingml/2006/main" prst="straightConnector1">
            <a:avLst/>
          </a:prstGeom>
          <a:ln xmlns:a="http://schemas.openxmlformats.org/drawingml/2006/main" w="19050">
            <a:solidFill>
              <a:srgbClr val="087E75"/>
            </a:solidFill>
            <a:tailEnd type="arrow" w="med" len="med"/>
          </a:ln>
        </p:spPr>
      </p:cxnSp>
      <p:cxnSp>
        <p:nvCxnSpPr>
          <p:cNvPr id="7" name="">
            <a:extLst xmlns:a="http://schemas.openxmlformats.org/drawingml/2006/main">
              <a:ext uri="{FF2B5EF4-FFF2-40B4-BE49-F238E27FC236}">
                <a16:creationId xmlns:a16="http://schemas.microsoft.com/office/drawing/2014/main" id="{8A531D6A-4B88-440F-813E-7629FB8FDDA7}"/>
              </a:ext>
            </a:extLst>
          </p:cNvPr>
          <p:cNvCxnSpPr>
            <a:stCxn xmlns:a="http://schemas.openxmlformats.org/drawingml/2006/main" id="3" idx="3"/>
            <a:endCxn xmlns:a="http://schemas.openxmlformats.org/drawingml/2006/main" id="4" idx="1"/>
          </p:cNvCxnSpPr>
          <p:nvPr/>
        </p:nvCxnSpPr>
        <p:spPr>
          <a:xfrm xmlns:a="http://schemas.openxmlformats.org/drawingml/2006/main">
            <a:off x="3067050" y="2343150"/>
            <a:ext cx="381000" cy="0"/>
          </a:xfrm>
          <a:prstGeom xmlns:a="http://schemas.openxmlformats.org/drawingml/2006/main" prst="straightConnector1">
            <a:avLst/>
          </a:prstGeom>
          <a:ln xmlns:a="http://schemas.openxmlformats.org/drawingml/2006/main" w="19050">
            <a:solidFill>
              <a:srgbClr val="087E75"/>
            </a:solidFill>
            <a:tailEnd type="arrow" w="med" len="med"/>
          </a:ln>
        </p:spPr>
      </p:cxnSp>
      <p:sp>
        <p:nvSpPr>
          <p:cNvPr id="15" name="">
            <a:extLst xmlns:a="http://schemas.openxmlformats.org/drawingml/2006/main">
              <a:ext uri="{FF2B5EF4-FFF2-40B4-BE49-F238E27FC236}">
                <a16:creationId xmlns:a16="http://schemas.microsoft.com/office/drawing/2014/main" id="{0E4CEEDB-5255-4124-B0FE-87CAC88A8820}"/>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300" b="1">
                <a:solidFill>
                  <a:srgbClr val="163139"/>
                </a:solidFill>
                <a:latin typeface="Arial"/>
                <a:ea typeface="Arial"/>
                <a:cs typeface="Arial"/>
              </a:defRPr>
            </a:defPPr>
            <a:lvl1pPr algn="l">
              <a:defRPr sz="3300" b="1">
                <a:solidFill>
                  <a:srgbClr val="163139"/>
                </a:solidFill>
                <a:latin typeface="Arial"/>
                <a:ea typeface="Arial"/>
                <a:cs typeface="Arial"/>
              </a:defRPr>
            </a:lvl1pPr>
            <a:lvl2pPr algn="l">
              <a:defRPr sz="3300" b="1">
                <a:solidFill>
                  <a:srgbClr val="163139"/>
                </a:solidFill>
                <a:latin typeface="Arial"/>
                <a:ea typeface="Arial"/>
                <a:cs typeface="Arial"/>
              </a:defRPr>
            </a:lvl2pPr>
            <a:lvl3pPr algn="l">
              <a:defRPr sz="3300" b="1">
                <a:solidFill>
                  <a:srgbClr val="163139"/>
                </a:solidFill>
                <a:latin typeface="Arial"/>
                <a:ea typeface="Arial"/>
                <a:cs typeface="Arial"/>
              </a:defRPr>
            </a:lvl3pPr>
            <a:lvl4pPr algn="l">
              <a:defRPr sz="3300" b="1">
                <a:solidFill>
                  <a:srgbClr val="163139"/>
                </a:solidFill>
                <a:latin typeface="Arial"/>
                <a:ea typeface="Arial"/>
                <a:cs typeface="Arial"/>
              </a:defRPr>
            </a:lvl4pPr>
            <a:lvl5pPr algn="l">
              <a:defRPr sz="3300" b="1">
                <a:solidFill>
                  <a:srgbClr val="163139"/>
                </a:solidFill>
                <a:latin typeface="Arial"/>
                <a:ea typeface="Arial"/>
                <a:cs typeface="Arial"/>
              </a:defRPr>
            </a:lvl5pPr>
            <a:lvl6pPr algn="l">
              <a:defRPr sz="3300" b="1">
                <a:solidFill>
                  <a:srgbClr val="163139"/>
                </a:solidFill>
                <a:latin typeface="Arial"/>
                <a:ea typeface="Arial"/>
                <a:cs typeface="Arial"/>
              </a:defRPr>
            </a:lvl6pPr>
            <a:lvl7pPr algn="l">
              <a:defRPr sz="3300" b="1">
                <a:solidFill>
                  <a:srgbClr val="163139"/>
                </a:solidFill>
                <a:latin typeface="Arial"/>
                <a:ea typeface="Arial"/>
                <a:cs typeface="Arial"/>
              </a:defRPr>
            </a:lvl7pPr>
            <a:lvl8pPr algn="l">
              <a:defRPr sz="3300" b="1">
                <a:solidFill>
                  <a:srgbClr val="163139"/>
                </a:solidFill>
                <a:latin typeface="Arial"/>
                <a:ea typeface="Arial"/>
                <a:cs typeface="Arial"/>
              </a:defRPr>
            </a:lvl8pPr>
            <a:lvl9pPr algn="l">
              <a:defRPr sz="3300" b="1">
                <a:solidFill>
                  <a:srgbClr val="163139"/>
                </a:solidFill>
                <a:latin typeface="Arial"/>
                <a:ea typeface="Arial"/>
                <a:cs typeface="Arial"/>
              </a:defRPr>
            </a:lvl9pPr>
          </a:lstStyle>
          <a:p xmlns:a="http://schemas.openxmlformats.org/drawingml/2006/main">
            <a:pPr algn="l">
              <a:defRPr sz="3300" b="1">
                <a:solidFill>
                  <a:srgbClr val="163139"/>
                </a:solidFill>
                <a:latin typeface="Arial"/>
                <a:ea typeface="Arial"/>
                <a:cs typeface="Arial"/>
              </a:defRPr>
            </a:pPr>
            <a:r>
              <a:rPr sz="3300" b="1">
                <a:solidFill>
                  <a:srgbClr val="163139"/>
                </a:solidFill>
                <a:latin typeface="Arial"/>
                <a:ea typeface="Arial"/>
                <a:cs typeface="Arial"/>
              </a:rPr>
              <a:t>Proposed method</a:t>
            </a:r>
          </a:p>
        </p:txBody>
      </p:sp>
      <p:sp>
        <p:nvSpPr>
          <p:cNvPr id="2" name="">
            <a:extLst xmlns:a="http://schemas.openxmlformats.org/drawingml/2006/main">
              <a:ext uri="{FF2B5EF4-FFF2-40B4-BE49-F238E27FC236}">
                <a16:creationId xmlns:a16="http://schemas.microsoft.com/office/drawing/2014/main" id="{62B74ACC-B134-47EA-826F-672B476A3557}"/>
              </a:ext>
            </a:extLst>
          </p:cNvPr>
          <p:cNvSpPr>
            <a:spLocks xmlns:a="http://schemas.openxmlformats.org/drawingml/2006/main" noGrp="1"/>
          </p:cNvSpPr>
          <p:nvPr/>
        </p:nvSpPr>
        <p:spPr>
          <a:xfrm xmlns:a="http://schemas.openxmlformats.org/drawingml/2006/main">
            <a:off x="10810875" y="640080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275" b="0">
                <a:solidFill>
                  <a:srgbClr val="52666D"/>
                </a:solidFill>
                <a:latin typeface="Arial"/>
                <a:ea typeface="Arial"/>
                <a:cs typeface="Arial"/>
              </a:defRPr>
            </a:defPPr>
            <a:lvl1pPr algn="r">
              <a:defRPr sz="1275" b="0">
                <a:solidFill>
                  <a:srgbClr val="52666D"/>
                </a:solidFill>
                <a:latin typeface="Arial"/>
                <a:ea typeface="Arial"/>
                <a:cs typeface="Arial"/>
              </a:defRPr>
            </a:lvl1pPr>
            <a:lvl2pPr algn="r">
              <a:defRPr sz="1275" b="0">
                <a:solidFill>
                  <a:srgbClr val="52666D"/>
                </a:solidFill>
                <a:latin typeface="Arial"/>
                <a:ea typeface="Arial"/>
                <a:cs typeface="Arial"/>
              </a:defRPr>
            </a:lvl2pPr>
            <a:lvl3pPr algn="r">
              <a:defRPr sz="1275" b="0">
                <a:solidFill>
                  <a:srgbClr val="52666D"/>
                </a:solidFill>
                <a:latin typeface="Arial"/>
                <a:ea typeface="Arial"/>
                <a:cs typeface="Arial"/>
              </a:defRPr>
            </a:lvl3pPr>
            <a:lvl4pPr algn="r">
              <a:defRPr sz="1275" b="0">
                <a:solidFill>
                  <a:srgbClr val="52666D"/>
                </a:solidFill>
                <a:latin typeface="Arial"/>
                <a:ea typeface="Arial"/>
                <a:cs typeface="Arial"/>
              </a:defRPr>
            </a:lvl4pPr>
            <a:lvl5pPr algn="r">
              <a:defRPr sz="1275" b="0">
                <a:solidFill>
                  <a:srgbClr val="52666D"/>
                </a:solidFill>
                <a:latin typeface="Arial"/>
                <a:ea typeface="Arial"/>
                <a:cs typeface="Arial"/>
              </a:defRPr>
            </a:lvl5pPr>
            <a:lvl6pPr algn="r">
              <a:defRPr sz="1275" b="0">
                <a:solidFill>
                  <a:srgbClr val="52666D"/>
                </a:solidFill>
                <a:latin typeface="Arial"/>
                <a:ea typeface="Arial"/>
                <a:cs typeface="Arial"/>
              </a:defRPr>
            </a:lvl6pPr>
            <a:lvl7pPr algn="r">
              <a:defRPr sz="1275" b="0">
                <a:solidFill>
                  <a:srgbClr val="52666D"/>
                </a:solidFill>
                <a:latin typeface="Arial"/>
                <a:ea typeface="Arial"/>
                <a:cs typeface="Arial"/>
              </a:defRPr>
            </a:lvl7pPr>
            <a:lvl8pPr algn="r">
              <a:defRPr sz="1275" b="0">
                <a:solidFill>
                  <a:srgbClr val="52666D"/>
                </a:solidFill>
                <a:latin typeface="Arial"/>
                <a:ea typeface="Arial"/>
                <a:cs typeface="Arial"/>
              </a:defRPr>
            </a:lvl8pPr>
            <a:lvl9pPr algn="r">
              <a:defRPr sz="1275" b="0">
                <a:solidFill>
                  <a:srgbClr val="52666D"/>
                </a:solidFill>
                <a:latin typeface="Arial"/>
                <a:ea typeface="Arial"/>
                <a:cs typeface="Arial"/>
              </a:defRPr>
            </a:lvl9pPr>
          </a:lstStyle>
          <a:p xmlns:a="http://schemas.openxmlformats.org/drawingml/2006/main">
            <a:pPr algn="r">
              <a:defRPr sz="1275" b="0">
                <a:solidFill>
                  <a:srgbClr val="52666D"/>
                </a:solidFill>
                <a:latin typeface="Arial"/>
                <a:ea typeface="Arial"/>
                <a:cs typeface="Arial"/>
              </a:defRPr>
            </a:pPr>
            <a:r>
              <a:rPr sz="1275" b="0">
                <a:solidFill>
                  <a:srgbClr val="52666D"/>
                </a:solidFill>
                <a:latin typeface="Arial"/>
                <a:ea typeface="Arial"/>
                <a:cs typeface="Arial"/>
              </a:rPr>
              <a:t>3 / 6</a:t>
            </a:r>
          </a:p>
        </p:txBody>
      </p:sp>
      <p:sp>
        <p:nvSpPr>
          <p:cNvPr id="3" name="">
            <a:extLst xmlns:a="http://schemas.openxmlformats.org/drawingml/2006/main">
              <a:ext uri="{FF2B5EF4-FFF2-40B4-BE49-F238E27FC236}">
                <a16:creationId xmlns:a16="http://schemas.microsoft.com/office/drawing/2014/main" id="{9127FF98-E0D4-4B98-9516-76835E2233F2}"/>
              </a:ext>
            </a:extLst>
          </p:cNvPr>
          <p:cNvSpPr>
            <a:spLocks xmlns:a="http://schemas.openxmlformats.org/drawingml/2006/main" noGrp="1"/>
          </p:cNvSpPr>
          <p:nvPr/>
        </p:nvSpPr>
        <p:spPr>
          <a:xfrm xmlns:a="http://schemas.openxmlformats.org/drawingml/2006/main">
            <a:off x="609600" y="1733550"/>
            <a:ext cx="2457450" cy="1219200"/>
          </a:xfrm>
          <a:prstGeom xmlns:a="http://schemas.openxmlformats.org/drawingml/2006/main" prst="rect">
            <a:avLst/>
          </a:prstGeom>
          <a:solidFill xmlns:a="http://schemas.openxmlformats.org/drawingml/2006/main">
            <a:srgbClr val="EDF6F4"/>
          </a:solidFill>
          <a:ln xmlns:a="http://schemas.openxmlformats.org/drawingml/2006/main" w="11430">
            <a:solidFill>
              <a:srgbClr val="87BCB4"/>
            </a:solidFill>
          </a:ln>
        </p:spPr>
        <p:txBody>
          <a:bodyPr xmlns:a="http://schemas.openxmlformats.org/drawingml/2006/main" lIns="95250" tIns="95250" rIns="95250" bIns="95250" anchor="ctr"/>
          <a:lstStyle xmlns:a="http://schemas.openxmlformats.org/drawingml/2006/main">
            <a:defPPr algn="ctr">
              <a:defRPr sz="1875">
                <a:solidFill>
                  <a:srgbClr val="163139"/>
                </a:solidFill>
                <a:latin typeface="Arial"/>
                <a:ea typeface="Arial"/>
                <a:cs typeface="Arial"/>
              </a:defRPr>
            </a:defPPr>
            <a:lvl1pPr algn="ctr">
              <a:defRPr sz="1875">
                <a:solidFill>
                  <a:srgbClr val="163139"/>
                </a:solidFill>
                <a:latin typeface="Arial"/>
                <a:ea typeface="Arial"/>
                <a:cs typeface="Arial"/>
              </a:defRPr>
            </a:lvl1pPr>
            <a:lvl2pPr algn="ctr">
              <a:defRPr sz="1875">
                <a:solidFill>
                  <a:srgbClr val="163139"/>
                </a:solidFill>
                <a:latin typeface="Arial"/>
                <a:ea typeface="Arial"/>
                <a:cs typeface="Arial"/>
              </a:defRPr>
            </a:lvl2pPr>
            <a:lvl3pPr algn="ctr">
              <a:defRPr sz="1875">
                <a:solidFill>
                  <a:srgbClr val="163139"/>
                </a:solidFill>
                <a:latin typeface="Arial"/>
                <a:ea typeface="Arial"/>
                <a:cs typeface="Arial"/>
              </a:defRPr>
            </a:lvl3pPr>
            <a:lvl4pPr algn="ctr">
              <a:defRPr sz="1875">
                <a:solidFill>
                  <a:srgbClr val="163139"/>
                </a:solidFill>
                <a:latin typeface="Arial"/>
                <a:ea typeface="Arial"/>
                <a:cs typeface="Arial"/>
              </a:defRPr>
            </a:lvl4pPr>
            <a:lvl5pPr algn="ctr">
              <a:defRPr sz="1875">
                <a:solidFill>
                  <a:srgbClr val="163139"/>
                </a:solidFill>
                <a:latin typeface="Arial"/>
                <a:ea typeface="Arial"/>
                <a:cs typeface="Arial"/>
              </a:defRPr>
            </a:lvl5pPr>
            <a:lvl6pPr algn="ctr">
              <a:defRPr sz="1875">
                <a:solidFill>
                  <a:srgbClr val="163139"/>
                </a:solidFill>
                <a:latin typeface="Arial"/>
                <a:ea typeface="Arial"/>
                <a:cs typeface="Arial"/>
              </a:defRPr>
            </a:lvl6pPr>
            <a:lvl7pPr algn="ctr">
              <a:defRPr sz="1875">
                <a:solidFill>
                  <a:srgbClr val="163139"/>
                </a:solidFill>
                <a:latin typeface="Arial"/>
                <a:ea typeface="Arial"/>
                <a:cs typeface="Arial"/>
              </a:defRPr>
            </a:lvl7pPr>
            <a:lvl8pPr algn="ctr">
              <a:defRPr sz="1875">
                <a:solidFill>
                  <a:srgbClr val="163139"/>
                </a:solidFill>
                <a:latin typeface="Arial"/>
                <a:ea typeface="Arial"/>
                <a:cs typeface="Arial"/>
              </a:defRPr>
            </a:lvl8pPr>
            <a:lvl9pPr algn="ctr">
              <a:defRPr sz="1875">
                <a:solidFill>
                  <a:srgbClr val="163139"/>
                </a:solidFill>
                <a:latin typeface="Arial"/>
                <a:ea typeface="Arial"/>
                <a:cs typeface="Arial"/>
              </a:defRPr>
            </a:lvl9pPr>
          </a:lstStyle>
          <a:p xmlns:a="http://schemas.openxmlformats.org/drawingml/2006/main">
            <a:pPr algn="ctr">
              <a:defRPr sz="1875">
                <a:solidFill>
                  <a:srgbClr val="163139"/>
                </a:solidFill>
                <a:latin typeface="Arial"/>
                <a:ea typeface="Arial"/>
                <a:cs typeface="Arial"/>
              </a:defRPr>
            </a:pPr>
            <a:r>
              <a:rPr sz="1875">
                <a:solidFill>
                  <a:srgbClr val="163139"/>
                </a:solidFill>
                <a:latin typeface="Arial"/>
                <a:ea typeface="Arial"/>
                <a:cs typeface="Arial"/>
              </a:rPr>
              <a:t>BioScope text</a:t>
            </a:r>
          </a:p>
          <a:p xmlns:a="http://schemas.openxmlformats.org/drawingml/2006/main">
            <a:pPr algn="ctr">
              <a:defRPr sz="1875">
                <a:solidFill>
                  <a:srgbClr val="163139"/>
                </a:solidFill>
                <a:latin typeface="Arial"/>
                <a:ea typeface="Arial"/>
                <a:cs typeface="Arial"/>
              </a:defRPr>
            </a:pPr>
            <a:r>
              <a:rPr sz="1875">
                <a:solidFill>
                  <a:srgbClr val="163139"/>
                </a:solidFill>
                <a:latin typeface="Arial"/>
                <a:ea typeface="Arial"/>
                <a:cs typeface="Arial"/>
              </a:rPr>
              <a:t>Document-group split</a:t>
            </a:r>
          </a:p>
        </p:txBody>
      </p:sp>
      <p:sp>
        <p:nvSpPr>
          <p:cNvPr id="4" name="">
            <a:extLst xmlns:a="http://schemas.openxmlformats.org/drawingml/2006/main">
              <a:ext uri="{FF2B5EF4-FFF2-40B4-BE49-F238E27FC236}">
                <a16:creationId xmlns:a16="http://schemas.microsoft.com/office/drawing/2014/main" id="{521EF8D1-814F-4ABA-ADB3-397674363365}"/>
              </a:ext>
            </a:extLst>
          </p:cNvPr>
          <p:cNvSpPr>
            <a:spLocks xmlns:a="http://schemas.openxmlformats.org/drawingml/2006/main" noGrp="1"/>
          </p:cNvSpPr>
          <p:nvPr/>
        </p:nvSpPr>
        <p:spPr>
          <a:xfrm xmlns:a="http://schemas.openxmlformats.org/drawingml/2006/main">
            <a:off x="3448050" y="1733550"/>
            <a:ext cx="2457450" cy="1219200"/>
          </a:xfrm>
          <a:prstGeom xmlns:a="http://schemas.openxmlformats.org/drawingml/2006/main" prst="rect">
            <a:avLst/>
          </a:prstGeom>
          <a:solidFill xmlns:a="http://schemas.openxmlformats.org/drawingml/2006/main">
            <a:srgbClr val="EDF6F4"/>
          </a:solidFill>
          <a:ln xmlns:a="http://schemas.openxmlformats.org/drawingml/2006/main" w="11430">
            <a:solidFill>
              <a:srgbClr val="87BCB4"/>
            </a:solidFill>
          </a:ln>
        </p:spPr>
        <p:txBody>
          <a:bodyPr xmlns:a="http://schemas.openxmlformats.org/drawingml/2006/main" lIns="95250" tIns="95250" rIns="95250" bIns="95250" anchor="ctr"/>
          <a:lstStyle xmlns:a="http://schemas.openxmlformats.org/drawingml/2006/main">
            <a:defPPr algn="ctr">
              <a:defRPr sz="1875">
                <a:solidFill>
                  <a:srgbClr val="163139"/>
                </a:solidFill>
                <a:latin typeface="Arial"/>
                <a:ea typeface="Arial"/>
                <a:cs typeface="Arial"/>
              </a:defRPr>
            </a:defPPr>
            <a:lvl1pPr algn="ctr">
              <a:defRPr sz="1875">
                <a:solidFill>
                  <a:srgbClr val="163139"/>
                </a:solidFill>
                <a:latin typeface="Arial"/>
                <a:ea typeface="Arial"/>
                <a:cs typeface="Arial"/>
              </a:defRPr>
            </a:lvl1pPr>
            <a:lvl2pPr algn="ctr">
              <a:defRPr sz="1875">
                <a:solidFill>
                  <a:srgbClr val="163139"/>
                </a:solidFill>
                <a:latin typeface="Arial"/>
                <a:ea typeface="Arial"/>
                <a:cs typeface="Arial"/>
              </a:defRPr>
            </a:lvl2pPr>
            <a:lvl3pPr algn="ctr">
              <a:defRPr sz="1875">
                <a:solidFill>
                  <a:srgbClr val="163139"/>
                </a:solidFill>
                <a:latin typeface="Arial"/>
                <a:ea typeface="Arial"/>
                <a:cs typeface="Arial"/>
              </a:defRPr>
            </a:lvl3pPr>
            <a:lvl4pPr algn="ctr">
              <a:defRPr sz="1875">
                <a:solidFill>
                  <a:srgbClr val="163139"/>
                </a:solidFill>
                <a:latin typeface="Arial"/>
                <a:ea typeface="Arial"/>
                <a:cs typeface="Arial"/>
              </a:defRPr>
            </a:lvl4pPr>
            <a:lvl5pPr algn="ctr">
              <a:defRPr sz="1875">
                <a:solidFill>
                  <a:srgbClr val="163139"/>
                </a:solidFill>
                <a:latin typeface="Arial"/>
                <a:ea typeface="Arial"/>
                <a:cs typeface="Arial"/>
              </a:defRPr>
            </a:lvl5pPr>
            <a:lvl6pPr algn="ctr">
              <a:defRPr sz="1875">
                <a:solidFill>
                  <a:srgbClr val="163139"/>
                </a:solidFill>
                <a:latin typeface="Arial"/>
                <a:ea typeface="Arial"/>
                <a:cs typeface="Arial"/>
              </a:defRPr>
            </a:lvl6pPr>
            <a:lvl7pPr algn="ctr">
              <a:defRPr sz="1875">
                <a:solidFill>
                  <a:srgbClr val="163139"/>
                </a:solidFill>
                <a:latin typeface="Arial"/>
                <a:ea typeface="Arial"/>
                <a:cs typeface="Arial"/>
              </a:defRPr>
            </a:lvl7pPr>
            <a:lvl8pPr algn="ctr">
              <a:defRPr sz="1875">
                <a:solidFill>
                  <a:srgbClr val="163139"/>
                </a:solidFill>
                <a:latin typeface="Arial"/>
                <a:ea typeface="Arial"/>
                <a:cs typeface="Arial"/>
              </a:defRPr>
            </a:lvl8pPr>
            <a:lvl9pPr algn="ctr">
              <a:defRPr sz="1875">
                <a:solidFill>
                  <a:srgbClr val="163139"/>
                </a:solidFill>
                <a:latin typeface="Arial"/>
                <a:ea typeface="Arial"/>
                <a:cs typeface="Arial"/>
              </a:defRPr>
            </a:lvl9pPr>
          </a:lstStyle>
          <a:p xmlns:a="http://schemas.openxmlformats.org/drawingml/2006/main">
            <a:pPr algn="ctr">
              <a:defRPr sz="1875">
                <a:solidFill>
                  <a:srgbClr val="163139"/>
                </a:solidFill>
                <a:latin typeface="Arial"/>
                <a:ea typeface="Arial"/>
                <a:cs typeface="Arial"/>
              </a:defRPr>
            </a:pPr>
            <a:r>
              <a:rPr sz="1875">
                <a:solidFill>
                  <a:srgbClr val="163139"/>
                </a:solidFill>
                <a:latin typeface="Arial"/>
                <a:ea typeface="Arial"/>
                <a:cs typeface="Arial"/>
              </a:rPr>
              <a:t>Features</a:t>
            </a:r>
          </a:p>
          <a:p xmlns:a="http://schemas.openxmlformats.org/drawingml/2006/main">
            <a:pPr algn="ctr">
              <a:defRPr sz="1875">
                <a:solidFill>
                  <a:srgbClr val="163139"/>
                </a:solidFill>
                <a:latin typeface="Arial"/>
                <a:ea typeface="Arial"/>
                <a:cs typeface="Arial"/>
              </a:defRPr>
            </a:pPr>
            <a:r>
              <a:rPr sz="1875">
                <a:solidFill>
                  <a:srgbClr val="163139"/>
                </a:solidFill>
                <a:latin typeface="Arial"/>
                <a:ea typeface="Arial"/>
                <a:cs typeface="Arial"/>
              </a:rPr>
              <a:t>TF-IDF or frozen encoder</a:t>
            </a:r>
          </a:p>
        </p:txBody>
      </p:sp>
      <p:sp>
        <p:nvSpPr>
          <p:cNvPr id="5" name="">
            <a:extLst xmlns:a="http://schemas.openxmlformats.org/drawingml/2006/main">
              <a:ext uri="{FF2B5EF4-FFF2-40B4-BE49-F238E27FC236}">
                <a16:creationId xmlns:a16="http://schemas.microsoft.com/office/drawing/2014/main" id="{A1794D8D-8A6A-4E87-B386-502F4D1F2B3A}"/>
              </a:ext>
            </a:extLst>
          </p:cNvPr>
          <p:cNvSpPr>
            <a:spLocks xmlns:a="http://schemas.openxmlformats.org/drawingml/2006/main" noGrp="1"/>
          </p:cNvSpPr>
          <p:nvPr/>
        </p:nvSpPr>
        <p:spPr>
          <a:xfrm xmlns:a="http://schemas.openxmlformats.org/drawingml/2006/main">
            <a:off x="6286500" y="1733550"/>
            <a:ext cx="2457450" cy="1219200"/>
          </a:xfrm>
          <a:prstGeom xmlns:a="http://schemas.openxmlformats.org/drawingml/2006/main" prst="rect">
            <a:avLst/>
          </a:prstGeom>
          <a:solidFill xmlns:a="http://schemas.openxmlformats.org/drawingml/2006/main">
            <a:srgbClr val="EDF6F4"/>
          </a:solidFill>
          <a:ln xmlns:a="http://schemas.openxmlformats.org/drawingml/2006/main" w="11430">
            <a:solidFill>
              <a:srgbClr val="87BCB4"/>
            </a:solidFill>
          </a:ln>
        </p:spPr>
        <p:txBody>
          <a:bodyPr xmlns:a="http://schemas.openxmlformats.org/drawingml/2006/main" lIns="95250" tIns="95250" rIns="95250" bIns="95250" anchor="ctr"/>
          <a:lstStyle xmlns:a="http://schemas.openxmlformats.org/drawingml/2006/main">
            <a:defPPr algn="ctr">
              <a:defRPr sz="1875">
                <a:solidFill>
                  <a:srgbClr val="163139"/>
                </a:solidFill>
                <a:latin typeface="Arial"/>
                <a:ea typeface="Arial"/>
                <a:cs typeface="Arial"/>
              </a:defRPr>
            </a:defPPr>
            <a:lvl1pPr algn="ctr">
              <a:defRPr sz="1875">
                <a:solidFill>
                  <a:srgbClr val="163139"/>
                </a:solidFill>
                <a:latin typeface="Arial"/>
                <a:ea typeface="Arial"/>
                <a:cs typeface="Arial"/>
              </a:defRPr>
            </a:lvl1pPr>
            <a:lvl2pPr algn="ctr">
              <a:defRPr sz="1875">
                <a:solidFill>
                  <a:srgbClr val="163139"/>
                </a:solidFill>
                <a:latin typeface="Arial"/>
                <a:ea typeface="Arial"/>
                <a:cs typeface="Arial"/>
              </a:defRPr>
            </a:lvl2pPr>
            <a:lvl3pPr algn="ctr">
              <a:defRPr sz="1875">
                <a:solidFill>
                  <a:srgbClr val="163139"/>
                </a:solidFill>
                <a:latin typeface="Arial"/>
                <a:ea typeface="Arial"/>
                <a:cs typeface="Arial"/>
              </a:defRPr>
            </a:lvl3pPr>
            <a:lvl4pPr algn="ctr">
              <a:defRPr sz="1875">
                <a:solidFill>
                  <a:srgbClr val="163139"/>
                </a:solidFill>
                <a:latin typeface="Arial"/>
                <a:ea typeface="Arial"/>
                <a:cs typeface="Arial"/>
              </a:defRPr>
            </a:lvl4pPr>
            <a:lvl5pPr algn="ctr">
              <a:defRPr sz="1875">
                <a:solidFill>
                  <a:srgbClr val="163139"/>
                </a:solidFill>
                <a:latin typeface="Arial"/>
                <a:ea typeface="Arial"/>
                <a:cs typeface="Arial"/>
              </a:defRPr>
            </a:lvl5pPr>
            <a:lvl6pPr algn="ctr">
              <a:defRPr sz="1875">
                <a:solidFill>
                  <a:srgbClr val="163139"/>
                </a:solidFill>
                <a:latin typeface="Arial"/>
                <a:ea typeface="Arial"/>
                <a:cs typeface="Arial"/>
              </a:defRPr>
            </a:lvl6pPr>
            <a:lvl7pPr algn="ctr">
              <a:defRPr sz="1875">
                <a:solidFill>
                  <a:srgbClr val="163139"/>
                </a:solidFill>
                <a:latin typeface="Arial"/>
                <a:ea typeface="Arial"/>
                <a:cs typeface="Arial"/>
              </a:defRPr>
            </a:lvl7pPr>
            <a:lvl8pPr algn="ctr">
              <a:defRPr sz="1875">
                <a:solidFill>
                  <a:srgbClr val="163139"/>
                </a:solidFill>
                <a:latin typeface="Arial"/>
                <a:ea typeface="Arial"/>
                <a:cs typeface="Arial"/>
              </a:defRPr>
            </a:lvl8pPr>
            <a:lvl9pPr algn="ctr">
              <a:defRPr sz="1875">
                <a:solidFill>
                  <a:srgbClr val="163139"/>
                </a:solidFill>
                <a:latin typeface="Arial"/>
                <a:ea typeface="Arial"/>
                <a:cs typeface="Arial"/>
              </a:defRPr>
            </a:lvl9pPr>
          </a:lstStyle>
          <a:p xmlns:a="http://schemas.openxmlformats.org/drawingml/2006/main">
            <a:pPr algn="ctr">
              <a:defRPr sz="1875">
                <a:solidFill>
                  <a:srgbClr val="163139"/>
                </a:solidFill>
                <a:latin typeface="Arial"/>
                <a:ea typeface="Arial"/>
                <a:cs typeface="Arial"/>
              </a:defRPr>
            </a:pPr>
            <a:r>
              <a:rPr sz="1875">
                <a:solidFill>
                  <a:srgbClr val="163139"/>
                </a:solidFill>
                <a:latin typeface="Arial"/>
                <a:ea typeface="Arial"/>
                <a:cs typeface="Arial"/>
              </a:rPr>
              <a:t>Linear classifier</a:t>
            </a:r>
          </a:p>
          <a:p xmlns:a="http://schemas.openxmlformats.org/drawingml/2006/main">
            <a:pPr algn="ctr">
              <a:defRPr sz="1875">
                <a:solidFill>
                  <a:srgbClr val="163139"/>
                </a:solidFill>
                <a:latin typeface="Arial"/>
                <a:ea typeface="Arial"/>
                <a:cs typeface="Arial"/>
              </a:defRPr>
            </a:pPr>
            <a:r>
              <a:rPr sz="1875">
                <a:solidFill>
                  <a:srgbClr val="163139"/>
                </a:solidFill>
                <a:latin typeface="Arial"/>
                <a:ea typeface="Arial"/>
                <a:cs typeface="Arial"/>
              </a:rPr>
              <a:t>LR or linear SVM</a:t>
            </a:r>
          </a:p>
        </p:txBody>
      </p:sp>
      <p:sp>
        <p:nvSpPr>
          <p:cNvPr id="6" name="">
            <a:extLst xmlns:a="http://schemas.openxmlformats.org/drawingml/2006/main">
              <a:ext uri="{FF2B5EF4-FFF2-40B4-BE49-F238E27FC236}">
                <a16:creationId xmlns:a16="http://schemas.microsoft.com/office/drawing/2014/main" id="{0C40DBB4-1A58-46EB-8FD3-3EDA2821B031}"/>
              </a:ext>
            </a:extLst>
          </p:cNvPr>
          <p:cNvSpPr>
            <a:spLocks xmlns:a="http://schemas.openxmlformats.org/drawingml/2006/main" noGrp="1"/>
          </p:cNvSpPr>
          <p:nvPr/>
        </p:nvSpPr>
        <p:spPr>
          <a:xfrm xmlns:a="http://schemas.openxmlformats.org/drawingml/2006/main">
            <a:off x="9124950" y="1733550"/>
            <a:ext cx="2457450" cy="1219200"/>
          </a:xfrm>
          <a:prstGeom xmlns:a="http://schemas.openxmlformats.org/drawingml/2006/main" prst="rect">
            <a:avLst/>
          </a:prstGeom>
          <a:solidFill xmlns:a="http://schemas.openxmlformats.org/drawingml/2006/main">
            <a:srgbClr val="EDF6F4"/>
          </a:solidFill>
          <a:ln xmlns:a="http://schemas.openxmlformats.org/drawingml/2006/main" w="11430">
            <a:solidFill>
              <a:srgbClr val="87BCB4"/>
            </a:solidFill>
          </a:ln>
        </p:spPr>
        <p:txBody>
          <a:bodyPr xmlns:a="http://schemas.openxmlformats.org/drawingml/2006/main" lIns="95250" tIns="95250" rIns="95250" bIns="95250" anchor="ctr"/>
          <a:lstStyle xmlns:a="http://schemas.openxmlformats.org/drawingml/2006/main">
            <a:defPPr algn="ctr">
              <a:defRPr sz="1875">
                <a:solidFill>
                  <a:srgbClr val="163139"/>
                </a:solidFill>
                <a:latin typeface="Arial"/>
                <a:ea typeface="Arial"/>
                <a:cs typeface="Arial"/>
              </a:defRPr>
            </a:defPPr>
            <a:lvl1pPr algn="ctr">
              <a:defRPr sz="1875">
                <a:solidFill>
                  <a:srgbClr val="163139"/>
                </a:solidFill>
                <a:latin typeface="Arial"/>
                <a:ea typeface="Arial"/>
                <a:cs typeface="Arial"/>
              </a:defRPr>
            </a:lvl1pPr>
            <a:lvl2pPr algn="ctr">
              <a:defRPr sz="1875">
                <a:solidFill>
                  <a:srgbClr val="163139"/>
                </a:solidFill>
                <a:latin typeface="Arial"/>
                <a:ea typeface="Arial"/>
                <a:cs typeface="Arial"/>
              </a:defRPr>
            </a:lvl2pPr>
            <a:lvl3pPr algn="ctr">
              <a:defRPr sz="1875">
                <a:solidFill>
                  <a:srgbClr val="163139"/>
                </a:solidFill>
                <a:latin typeface="Arial"/>
                <a:ea typeface="Arial"/>
                <a:cs typeface="Arial"/>
              </a:defRPr>
            </a:lvl3pPr>
            <a:lvl4pPr algn="ctr">
              <a:defRPr sz="1875">
                <a:solidFill>
                  <a:srgbClr val="163139"/>
                </a:solidFill>
                <a:latin typeface="Arial"/>
                <a:ea typeface="Arial"/>
                <a:cs typeface="Arial"/>
              </a:defRPr>
            </a:lvl4pPr>
            <a:lvl5pPr algn="ctr">
              <a:defRPr sz="1875">
                <a:solidFill>
                  <a:srgbClr val="163139"/>
                </a:solidFill>
                <a:latin typeface="Arial"/>
                <a:ea typeface="Arial"/>
                <a:cs typeface="Arial"/>
              </a:defRPr>
            </a:lvl5pPr>
            <a:lvl6pPr algn="ctr">
              <a:defRPr sz="1875">
                <a:solidFill>
                  <a:srgbClr val="163139"/>
                </a:solidFill>
                <a:latin typeface="Arial"/>
                <a:ea typeface="Arial"/>
                <a:cs typeface="Arial"/>
              </a:defRPr>
            </a:lvl6pPr>
            <a:lvl7pPr algn="ctr">
              <a:defRPr sz="1875">
                <a:solidFill>
                  <a:srgbClr val="163139"/>
                </a:solidFill>
                <a:latin typeface="Arial"/>
                <a:ea typeface="Arial"/>
                <a:cs typeface="Arial"/>
              </a:defRPr>
            </a:lvl7pPr>
            <a:lvl8pPr algn="ctr">
              <a:defRPr sz="1875">
                <a:solidFill>
                  <a:srgbClr val="163139"/>
                </a:solidFill>
                <a:latin typeface="Arial"/>
                <a:ea typeface="Arial"/>
                <a:cs typeface="Arial"/>
              </a:defRPr>
            </a:lvl8pPr>
            <a:lvl9pPr algn="ctr">
              <a:defRPr sz="1875">
                <a:solidFill>
                  <a:srgbClr val="163139"/>
                </a:solidFill>
                <a:latin typeface="Arial"/>
                <a:ea typeface="Arial"/>
                <a:cs typeface="Arial"/>
              </a:defRPr>
            </a:lvl9pPr>
          </a:lstStyle>
          <a:p xmlns:a="http://schemas.openxmlformats.org/drawingml/2006/main">
            <a:pPr algn="ctr">
              <a:defRPr sz="1875">
                <a:solidFill>
                  <a:srgbClr val="163139"/>
                </a:solidFill>
                <a:latin typeface="Arial"/>
                <a:ea typeface="Arial"/>
                <a:cs typeface="Arial"/>
              </a:defRPr>
            </a:pPr>
            <a:r>
              <a:rPr sz="1875">
                <a:solidFill>
                  <a:srgbClr val="163139"/>
                </a:solidFill>
                <a:latin typeface="Arial"/>
                <a:ea typeface="Arial"/>
                <a:cs typeface="Arial"/>
              </a:rPr>
              <a:t>Evaluation</a:t>
            </a:r>
          </a:p>
          <a:p xmlns:a="http://schemas.openxmlformats.org/drawingml/2006/main">
            <a:pPr algn="ctr">
              <a:defRPr sz="1875">
                <a:solidFill>
                  <a:srgbClr val="163139"/>
                </a:solidFill>
                <a:latin typeface="Arial"/>
                <a:ea typeface="Arial"/>
                <a:cs typeface="Arial"/>
              </a:defRPr>
            </a:pPr>
            <a:r>
              <a:rPr sz="1875">
                <a:solidFill>
                  <a:srgbClr val="163139"/>
                </a:solidFill>
                <a:latin typeface="Arial"/>
                <a:ea typeface="Arial"/>
                <a:cs typeface="Arial"/>
              </a:rPr>
              <a:t>Macro-F1 and recall</a:t>
            </a:r>
          </a:p>
        </p:txBody>
      </p:sp>
      <p:sp>
        <p:nvSpPr>
          <p:cNvPr id="10" name="">
            <a:extLst xmlns:a="http://schemas.openxmlformats.org/drawingml/2006/main">
              <a:ext uri="{FF2B5EF4-FFF2-40B4-BE49-F238E27FC236}">
                <a16:creationId xmlns:a16="http://schemas.microsoft.com/office/drawing/2014/main" id="{BEBDDB84-62C5-4A78-B9F6-FDD8782DADA9}"/>
              </a:ext>
            </a:extLst>
          </p:cNvPr>
          <p:cNvSpPr>
            <a:spLocks xmlns:a="http://schemas.openxmlformats.org/drawingml/2006/main" noGrp="1"/>
          </p:cNvSpPr>
          <p:nvPr/>
        </p:nvSpPr>
        <p:spPr>
          <a:xfrm xmlns:a="http://schemas.openxmlformats.org/drawingml/2006/main">
            <a:off x="609600" y="3352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087E75"/>
                </a:solidFill>
                <a:latin typeface="Arial"/>
                <a:ea typeface="Arial"/>
                <a:cs typeface="Arial"/>
              </a:defRPr>
            </a:defPPr>
            <a:lvl1pPr algn="l">
              <a:defRPr sz="2175" b="1">
                <a:solidFill>
                  <a:srgbClr val="087E75"/>
                </a:solidFill>
                <a:latin typeface="Arial"/>
                <a:ea typeface="Arial"/>
                <a:cs typeface="Arial"/>
              </a:defRPr>
            </a:lvl1pPr>
            <a:lvl2pPr algn="l">
              <a:defRPr sz="2175" b="1">
                <a:solidFill>
                  <a:srgbClr val="087E75"/>
                </a:solidFill>
                <a:latin typeface="Arial"/>
                <a:ea typeface="Arial"/>
                <a:cs typeface="Arial"/>
              </a:defRPr>
            </a:lvl2pPr>
            <a:lvl3pPr algn="l">
              <a:defRPr sz="2175" b="1">
                <a:solidFill>
                  <a:srgbClr val="087E75"/>
                </a:solidFill>
                <a:latin typeface="Arial"/>
                <a:ea typeface="Arial"/>
                <a:cs typeface="Arial"/>
              </a:defRPr>
            </a:lvl3pPr>
            <a:lvl4pPr algn="l">
              <a:defRPr sz="2175" b="1">
                <a:solidFill>
                  <a:srgbClr val="087E75"/>
                </a:solidFill>
                <a:latin typeface="Arial"/>
                <a:ea typeface="Arial"/>
                <a:cs typeface="Arial"/>
              </a:defRPr>
            </a:lvl4pPr>
            <a:lvl5pPr algn="l">
              <a:defRPr sz="2175" b="1">
                <a:solidFill>
                  <a:srgbClr val="087E75"/>
                </a:solidFill>
                <a:latin typeface="Arial"/>
                <a:ea typeface="Arial"/>
                <a:cs typeface="Arial"/>
              </a:defRPr>
            </a:lvl5pPr>
            <a:lvl6pPr algn="l">
              <a:defRPr sz="2175" b="1">
                <a:solidFill>
                  <a:srgbClr val="087E75"/>
                </a:solidFill>
                <a:latin typeface="Arial"/>
                <a:ea typeface="Arial"/>
                <a:cs typeface="Arial"/>
              </a:defRPr>
            </a:lvl6pPr>
            <a:lvl7pPr algn="l">
              <a:defRPr sz="2175" b="1">
                <a:solidFill>
                  <a:srgbClr val="087E75"/>
                </a:solidFill>
                <a:latin typeface="Arial"/>
                <a:ea typeface="Arial"/>
                <a:cs typeface="Arial"/>
              </a:defRPr>
            </a:lvl7pPr>
            <a:lvl8pPr algn="l">
              <a:defRPr sz="2175" b="1">
                <a:solidFill>
                  <a:srgbClr val="087E75"/>
                </a:solidFill>
                <a:latin typeface="Arial"/>
                <a:ea typeface="Arial"/>
                <a:cs typeface="Arial"/>
              </a:defRPr>
            </a:lvl8pPr>
            <a:lvl9pPr algn="l">
              <a:defRPr sz="2175" b="1">
                <a:solidFill>
                  <a:srgbClr val="087E75"/>
                </a:solidFill>
                <a:latin typeface="Arial"/>
                <a:ea typeface="Arial"/>
                <a:cs typeface="Arial"/>
              </a:defRPr>
            </a:lvl9pPr>
          </a:lstStyle>
          <a:p xmlns:a="http://schemas.openxmlformats.org/drawingml/2006/main">
            <a:pPr algn="l">
              <a:defRPr sz="2175" b="1">
                <a:solidFill>
                  <a:srgbClr val="087E75"/>
                </a:solidFill>
                <a:latin typeface="Arial"/>
                <a:ea typeface="Arial"/>
                <a:cs typeface="Arial"/>
              </a:defRPr>
            </a:pPr>
            <a:r>
              <a:rPr sz="2175" b="1">
                <a:solidFill>
                  <a:srgbClr val="087E75"/>
                </a:solidFill>
                <a:latin typeface="Arial"/>
                <a:ea typeface="Arial"/>
                <a:cs typeface="Arial"/>
              </a:rPr>
              <a:t>BERT-base-cased, BioBERT v1.2, and PubMedBERT</a:t>
            </a:r>
          </a:p>
        </p:txBody>
      </p:sp>
      <p:sp>
        <p:nvSpPr>
          <p:cNvPr id="11" name="">
            <a:extLst xmlns:a="http://schemas.openxmlformats.org/drawingml/2006/main">
              <a:ext uri="{FF2B5EF4-FFF2-40B4-BE49-F238E27FC236}">
                <a16:creationId xmlns:a16="http://schemas.microsoft.com/office/drawing/2014/main" id="{319B9A4D-85F1-4A48-88DA-B025F4124275}"/>
              </a:ext>
            </a:extLst>
          </p:cNvPr>
          <p:cNvSpPr>
            <a:spLocks xmlns:a="http://schemas.openxmlformats.org/drawingml/2006/main" noGrp="1"/>
          </p:cNvSpPr>
          <p:nvPr/>
        </p:nvSpPr>
        <p:spPr>
          <a:xfrm xmlns:a="http://schemas.openxmlformats.org/drawingml/2006/main">
            <a:off x="609600" y="38290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63139"/>
                </a:solidFill>
                <a:latin typeface="Arial"/>
                <a:ea typeface="Arial"/>
                <a:cs typeface="Arial"/>
              </a:defRPr>
            </a:defPPr>
            <a:lvl1pPr algn="l">
              <a:defRPr sz="1950" b="0">
                <a:solidFill>
                  <a:srgbClr val="163139"/>
                </a:solidFill>
                <a:latin typeface="Arial"/>
                <a:ea typeface="Arial"/>
                <a:cs typeface="Arial"/>
              </a:defRPr>
            </a:lvl1pPr>
            <a:lvl2pPr algn="l">
              <a:defRPr sz="1950" b="0">
                <a:solidFill>
                  <a:srgbClr val="163139"/>
                </a:solidFill>
                <a:latin typeface="Arial"/>
                <a:ea typeface="Arial"/>
                <a:cs typeface="Arial"/>
              </a:defRPr>
            </a:lvl2pPr>
            <a:lvl3pPr algn="l">
              <a:defRPr sz="1950" b="0">
                <a:solidFill>
                  <a:srgbClr val="163139"/>
                </a:solidFill>
                <a:latin typeface="Arial"/>
                <a:ea typeface="Arial"/>
                <a:cs typeface="Arial"/>
              </a:defRPr>
            </a:lvl3pPr>
            <a:lvl4pPr algn="l">
              <a:defRPr sz="1950" b="0">
                <a:solidFill>
                  <a:srgbClr val="163139"/>
                </a:solidFill>
                <a:latin typeface="Arial"/>
                <a:ea typeface="Arial"/>
                <a:cs typeface="Arial"/>
              </a:defRPr>
            </a:lvl4pPr>
            <a:lvl5pPr algn="l">
              <a:defRPr sz="1950" b="0">
                <a:solidFill>
                  <a:srgbClr val="163139"/>
                </a:solidFill>
                <a:latin typeface="Arial"/>
                <a:ea typeface="Arial"/>
                <a:cs typeface="Arial"/>
              </a:defRPr>
            </a:lvl5pPr>
            <a:lvl6pPr algn="l">
              <a:defRPr sz="1950" b="0">
                <a:solidFill>
                  <a:srgbClr val="163139"/>
                </a:solidFill>
                <a:latin typeface="Arial"/>
                <a:ea typeface="Arial"/>
                <a:cs typeface="Arial"/>
              </a:defRPr>
            </a:lvl6pPr>
            <a:lvl7pPr algn="l">
              <a:defRPr sz="1950" b="0">
                <a:solidFill>
                  <a:srgbClr val="163139"/>
                </a:solidFill>
                <a:latin typeface="Arial"/>
                <a:ea typeface="Arial"/>
                <a:cs typeface="Arial"/>
              </a:defRPr>
            </a:lvl7pPr>
            <a:lvl8pPr algn="l">
              <a:defRPr sz="1950" b="0">
                <a:solidFill>
                  <a:srgbClr val="163139"/>
                </a:solidFill>
                <a:latin typeface="Arial"/>
                <a:ea typeface="Arial"/>
                <a:cs typeface="Arial"/>
              </a:defRPr>
            </a:lvl8pPr>
            <a:lvl9pPr algn="l">
              <a:defRPr sz="1950" b="0">
                <a:solidFill>
                  <a:srgbClr val="163139"/>
                </a:solidFill>
                <a:latin typeface="Arial"/>
                <a:ea typeface="Arial"/>
                <a:cs typeface="Arial"/>
              </a:defRPr>
            </a:lvl9pPr>
          </a:lstStyle>
          <a:p xmlns:a="http://schemas.openxmlformats.org/drawingml/2006/main">
            <a:pPr algn="l">
              <a:defRPr sz="1950" b="0">
                <a:solidFill>
                  <a:srgbClr val="163139"/>
                </a:solidFill>
                <a:latin typeface="Arial"/>
                <a:ea typeface="Arial"/>
                <a:cs typeface="Arial"/>
              </a:defRPr>
            </a:pPr>
            <a:r>
              <a:rPr sz="1950" b="0">
                <a:solidFill>
                  <a:srgbClr val="163139"/>
                </a:solidFill>
                <a:latin typeface="Arial"/>
                <a:ea typeface="Arial"/>
                <a:cs typeface="Arial"/>
              </a:rPr>
              <a:t>Frozen last-layer mean pooling; padding and special tokens excluded</a:t>
            </a:r>
          </a:p>
        </p:txBody>
      </p:sp>
      <p:sp>
        <p:nvSpPr>
          <p:cNvPr id="12" name="">
            <a:extLst xmlns:a="http://schemas.openxmlformats.org/drawingml/2006/main">
              <a:ext uri="{FF2B5EF4-FFF2-40B4-BE49-F238E27FC236}">
                <a16:creationId xmlns:a16="http://schemas.microsoft.com/office/drawing/2014/main" id="{F5417EDB-90FB-4D19-AC0A-0F75A1AD0130}"/>
              </a:ext>
            </a:extLst>
          </p:cNvPr>
          <p:cNvSpPr>
            <a:spLocks xmlns:a="http://schemas.openxmlformats.org/drawingml/2006/main" noGrp="1"/>
          </p:cNvSpPr>
          <p:nvPr/>
        </p:nvSpPr>
        <p:spPr>
          <a:xfrm xmlns:a="http://schemas.openxmlformats.org/drawingml/2006/main">
            <a:off x="609600" y="44386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63139"/>
                </a:solidFill>
                <a:latin typeface="Arial"/>
                <a:ea typeface="Arial"/>
                <a:cs typeface="Arial"/>
              </a:defRPr>
            </a:defPPr>
            <a:lvl1pPr algn="l">
              <a:defRPr sz="2175" b="1">
                <a:solidFill>
                  <a:srgbClr val="163139"/>
                </a:solidFill>
                <a:latin typeface="Arial"/>
                <a:ea typeface="Arial"/>
                <a:cs typeface="Arial"/>
              </a:defRPr>
            </a:lvl1pPr>
            <a:lvl2pPr algn="l">
              <a:defRPr sz="2175" b="1">
                <a:solidFill>
                  <a:srgbClr val="163139"/>
                </a:solidFill>
                <a:latin typeface="Arial"/>
                <a:ea typeface="Arial"/>
                <a:cs typeface="Arial"/>
              </a:defRPr>
            </a:lvl2pPr>
            <a:lvl3pPr algn="l">
              <a:defRPr sz="2175" b="1">
                <a:solidFill>
                  <a:srgbClr val="163139"/>
                </a:solidFill>
                <a:latin typeface="Arial"/>
                <a:ea typeface="Arial"/>
                <a:cs typeface="Arial"/>
              </a:defRPr>
            </a:lvl3pPr>
            <a:lvl4pPr algn="l">
              <a:defRPr sz="2175" b="1">
                <a:solidFill>
                  <a:srgbClr val="163139"/>
                </a:solidFill>
                <a:latin typeface="Arial"/>
                <a:ea typeface="Arial"/>
                <a:cs typeface="Arial"/>
              </a:defRPr>
            </a:lvl4pPr>
            <a:lvl5pPr algn="l">
              <a:defRPr sz="2175" b="1">
                <a:solidFill>
                  <a:srgbClr val="163139"/>
                </a:solidFill>
                <a:latin typeface="Arial"/>
                <a:ea typeface="Arial"/>
                <a:cs typeface="Arial"/>
              </a:defRPr>
            </a:lvl5pPr>
            <a:lvl6pPr algn="l">
              <a:defRPr sz="2175" b="1">
                <a:solidFill>
                  <a:srgbClr val="163139"/>
                </a:solidFill>
                <a:latin typeface="Arial"/>
                <a:ea typeface="Arial"/>
                <a:cs typeface="Arial"/>
              </a:defRPr>
            </a:lvl6pPr>
            <a:lvl7pPr algn="l">
              <a:defRPr sz="2175" b="1">
                <a:solidFill>
                  <a:srgbClr val="163139"/>
                </a:solidFill>
                <a:latin typeface="Arial"/>
                <a:ea typeface="Arial"/>
                <a:cs typeface="Arial"/>
              </a:defRPr>
            </a:lvl7pPr>
            <a:lvl8pPr algn="l">
              <a:defRPr sz="2175" b="1">
                <a:solidFill>
                  <a:srgbClr val="163139"/>
                </a:solidFill>
                <a:latin typeface="Arial"/>
                <a:ea typeface="Arial"/>
                <a:cs typeface="Arial"/>
              </a:defRPr>
            </a:lvl8pPr>
            <a:lvl9pPr algn="l">
              <a:defRPr sz="2175" b="1">
                <a:solidFill>
                  <a:srgbClr val="163139"/>
                </a:solidFill>
                <a:latin typeface="Arial"/>
                <a:ea typeface="Arial"/>
                <a:cs typeface="Arial"/>
              </a:defRPr>
            </a:lvl9pPr>
          </a:lstStyle>
          <a:p xmlns:a="http://schemas.openxmlformats.org/drawingml/2006/main">
            <a:pPr algn="l">
              <a:defRPr sz="2175" b="1">
                <a:solidFill>
                  <a:srgbClr val="163139"/>
                </a:solidFill>
                <a:latin typeface="Arial"/>
                <a:ea typeface="Arial"/>
                <a:cs typeface="Arial"/>
              </a:defRPr>
            </a:pPr>
            <a:r>
              <a:rPr sz="2175" b="1">
                <a:solidFill>
                  <a:srgbClr val="163139"/>
                </a:solidFill>
                <a:latin typeface="Arial"/>
                <a:ea typeface="Arial"/>
                <a:cs typeface="Arial"/>
              </a:rPr>
              <a:t>Pilot: 1,500 train / 400 validation / 600 test sentences</a:t>
            </a:r>
          </a:p>
        </p:txBody>
      </p:sp>
      <p:sp>
        <p:nvSpPr>
          <p:cNvPr id="13" name="">
            <a:extLst xmlns:a="http://schemas.openxmlformats.org/drawingml/2006/main">
              <a:ext uri="{FF2B5EF4-FFF2-40B4-BE49-F238E27FC236}">
                <a16:creationId xmlns:a16="http://schemas.microsoft.com/office/drawing/2014/main" id="{86330FAB-758C-4149-82DD-F4ACB4375AD1}"/>
              </a:ext>
            </a:extLst>
          </p:cNvPr>
          <p:cNvSpPr>
            <a:spLocks xmlns:a="http://schemas.openxmlformats.org/drawingml/2006/main" noGrp="1"/>
          </p:cNvSpPr>
          <p:nvPr/>
        </p:nvSpPr>
        <p:spPr>
          <a:xfrm xmlns:a="http://schemas.openxmlformats.org/drawingml/2006/main">
            <a:off x="609600" y="49149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63139"/>
                </a:solidFill>
                <a:latin typeface="Arial"/>
                <a:ea typeface="Arial"/>
                <a:cs typeface="Arial"/>
              </a:defRPr>
            </a:defPPr>
            <a:lvl1pPr algn="l">
              <a:defRPr sz="1950" b="0">
                <a:solidFill>
                  <a:srgbClr val="163139"/>
                </a:solidFill>
                <a:latin typeface="Arial"/>
                <a:ea typeface="Arial"/>
                <a:cs typeface="Arial"/>
              </a:defRPr>
            </a:lvl1pPr>
            <a:lvl2pPr algn="l">
              <a:defRPr sz="1950" b="0">
                <a:solidFill>
                  <a:srgbClr val="163139"/>
                </a:solidFill>
                <a:latin typeface="Arial"/>
                <a:ea typeface="Arial"/>
                <a:cs typeface="Arial"/>
              </a:defRPr>
            </a:lvl2pPr>
            <a:lvl3pPr algn="l">
              <a:defRPr sz="1950" b="0">
                <a:solidFill>
                  <a:srgbClr val="163139"/>
                </a:solidFill>
                <a:latin typeface="Arial"/>
                <a:ea typeface="Arial"/>
                <a:cs typeface="Arial"/>
              </a:defRPr>
            </a:lvl3pPr>
            <a:lvl4pPr algn="l">
              <a:defRPr sz="1950" b="0">
                <a:solidFill>
                  <a:srgbClr val="163139"/>
                </a:solidFill>
                <a:latin typeface="Arial"/>
                <a:ea typeface="Arial"/>
                <a:cs typeface="Arial"/>
              </a:defRPr>
            </a:lvl4pPr>
            <a:lvl5pPr algn="l">
              <a:defRPr sz="1950" b="0">
                <a:solidFill>
                  <a:srgbClr val="163139"/>
                </a:solidFill>
                <a:latin typeface="Arial"/>
                <a:ea typeface="Arial"/>
                <a:cs typeface="Arial"/>
              </a:defRPr>
            </a:lvl5pPr>
            <a:lvl6pPr algn="l">
              <a:defRPr sz="1950" b="0">
                <a:solidFill>
                  <a:srgbClr val="163139"/>
                </a:solidFill>
                <a:latin typeface="Arial"/>
                <a:ea typeface="Arial"/>
                <a:cs typeface="Arial"/>
              </a:defRPr>
            </a:lvl6pPr>
            <a:lvl7pPr algn="l">
              <a:defRPr sz="1950" b="0">
                <a:solidFill>
                  <a:srgbClr val="163139"/>
                </a:solidFill>
                <a:latin typeface="Arial"/>
                <a:ea typeface="Arial"/>
                <a:cs typeface="Arial"/>
              </a:defRPr>
            </a:lvl7pPr>
            <a:lvl8pPr algn="l">
              <a:defRPr sz="1950" b="0">
                <a:solidFill>
                  <a:srgbClr val="163139"/>
                </a:solidFill>
                <a:latin typeface="Arial"/>
                <a:ea typeface="Arial"/>
                <a:cs typeface="Arial"/>
              </a:defRPr>
            </a:lvl8pPr>
            <a:lvl9pPr algn="l">
              <a:defRPr sz="1950" b="0">
                <a:solidFill>
                  <a:srgbClr val="163139"/>
                </a:solidFill>
                <a:latin typeface="Arial"/>
                <a:ea typeface="Arial"/>
                <a:cs typeface="Arial"/>
              </a:defRPr>
            </a:lvl9pPr>
          </a:lstStyle>
          <a:p xmlns:a="http://schemas.openxmlformats.org/drawingml/2006/main">
            <a:pPr algn="l">
              <a:defRPr sz="1950" b="0">
                <a:solidFill>
                  <a:srgbClr val="163139"/>
                </a:solidFill>
                <a:latin typeface="Arial"/>
                <a:ea typeface="Arial"/>
                <a:cs typeface="Arial"/>
              </a:defRPr>
            </a:pPr>
            <a:r>
              <a:rPr sz="1950" b="0">
                <a:solidFill>
                  <a:srgbClr val="163139"/>
                </a:solidFill>
                <a:latin typeface="Arial"/>
                <a:ea typeface="Arial"/>
                <a:cs typeface="Arial"/>
              </a:rPr>
              <a:t>10, 25, 50, 100 examples per class and the full pilot training pool</a:t>
            </a:r>
          </a:p>
        </p:txBody>
      </p:sp>
      <p:sp>
        <p:nvSpPr>
          <p:cNvPr id="14" name="">
            <a:extLst xmlns:a="http://schemas.openxmlformats.org/drawingml/2006/main">
              <a:ext uri="{FF2B5EF4-FFF2-40B4-BE49-F238E27FC236}">
                <a16:creationId xmlns:a16="http://schemas.microsoft.com/office/drawing/2014/main" id="{9AE5A0B1-1E8B-4817-8B2B-E34559F1738C}"/>
              </a:ext>
            </a:extLst>
          </p:cNvPr>
          <p:cNvSpPr>
            <a:spLocks xmlns:a="http://schemas.openxmlformats.org/drawingml/2006/main" noGrp="1"/>
          </p:cNvSpPr>
          <p:nvPr/>
        </p:nvSpPr>
        <p:spPr>
          <a:xfrm xmlns:a="http://schemas.openxmlformats.org/drawingml/2006/main">
            <a:off x="609600" y="5410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52666D"/>
                </a:solidFill>
                <a:latin typeface="Arial"/>
                <a:ea typeface="Arial"/>
                <a:cs typeface="Arial"/>
              </a:defRPr>
            </a:defPPr>
            <a:lvl1pPr algn="l">
              <a:defRPr sz="1875" b="0">
                <a:solidFill>
                  <a:srgbClr val="52666D"/>
                </a:solidFill>
                <a:latin typeface="Arial"/>
                <a:ea typeface="Arial"/>
                <a:cs typeface="Arial"/>
              </a:defRPr>
            </a:lvl1pPr>
            <a:lvl2pPr algn="l">
              <a:defRPr sz="1875" b="0">
                <a:solidFill>
                  <a:srgbClr val="52666D"/>
                </a:solidFill>
                <a:latin typeface="Arial"/>
                <a:ea typeface="Arial"/>
                <a:cs typeface="Arial"/>
              </a:defRPr>
            </a:lvl2pPr>
            <a:lvl3pPr algn="l">
              <a:defRPr sz="1875" b="0">
                <a:solidFill>
                  <a:srgbClr val="52666D"/>
                </a:solidFill>
                <a:latin typeface="Arial"/>
                <a:ea typeface="Arial"/>
                <a:cs typeface="Arial"/>
              </a:defRPr>
            </a:lvl3pPr>
            <a:lvl4pPr algn="l">
              <a:defRPr sz="1875" b="0">
                <a:solidFill>
                  <a:srgbClr val="52666D"/>
                </a:solidFill>
                <a:latin typeface="Arial"/>
                <a:ea typeface="Arial"/>
                <a:cs typeface="Arial"/>
              </a:defRPr>
            </a:lvl4pPr>
            <a:lvl5pPr algn="l">
              <a:defRPr sz="1875" b="0">
                <a:solidFill>
                  <a:srgbClr val="52666D"/>
                </a:solidFill>
                <a:latin typeface="Arial"/>
                <a:ea typeface="Arial"/>
                <a:cs typeface="Arial"/>
              </a:defRPr>
            </a:lvl5pPr>
            <a:lvl6pPr algn="l">
              <a:defRPr sz="1875" b="0">
                <a:solidFill>
                  <a:srgbClr val="52666D"/>
                </a:solidFill>
                <a:latin typeface="Arial"/>
                <a:ea typeface="Arial"/>
                <a:cs typeface="Arial"/>
              </a:defRPr>
            </a:lvl6pPr>
            <a:lvl7pPr algn="l">
              <a:defRPr sz="1875" b="0">
                <a:solidFill>
                  <a:srgbClr val="52666D"/>
                </a:solidFill>
                <a:latin typeface="Arial"/>
                <a:ea typeface="Arial"/>
                <a:cs typeface="Arial"/>
              </a:defRPr>
            </a:lvl7pPr>
            <a:lvl8pPr algn="l">
              <a:defRPr sz="1875" b="0">
                <a:solidFill>
                  <a:srgbClr val="52666D"/>
                </a:solidFill>
                <a:latin typeface="Arial"/>
                <a:ea typeface="Arial"/>
                <a:cs typeface="Arial"/>
              </a:defRPr>
            </a:lvl8pPr>
            <a:lvl9pPr algn="l">
              <a:defRPr sz="1875" b="0">
                <a:solidFill>
                  <a:srgbClr val="52666D"/>
                </a:solidFill>
                <a:latin typeface="Arial"/>
                <a:ea typeface="Arial"/>
                <a:cs typeface="Arial"/>
              </a:defRPr>
            </a:lvl9pPr>
          </a:lstStyle>
          <a:p xmlns:a="http://schemas.openxmlformats.org/drawingml/2006/main">
            <a:pPr algn="l">
              <a:defRPr sz="1875" b="0">
                <a:solidFill>
                  <a:srgbClr val="52666D"/>
                </a:solidFill>
                <a:latin typeface="Arial"/>
                <a:ea typeface="Arial"/>
                <a:cs typeface="Arial"/>
              </a:defRPr>
            </a:pPr>
            <a:r>
              <a:rPr sz="1875" b="0">
                <a:solidFill>
                  <a:srgbClr val="52666D"/>
                </a:solidFill>
                <a:latin typeface="Arial"/>
                <a:ea typeface="Arial"/>
                <a:cs typeface="Arial"/>
              </a:rPr>
              <a:t>Same training IDs for every method; C selected on validation; 3 sampling seeds</a:t>
            </a:r>
          </a:p>
        </p:txBody>
      </p:sp>
    </p:spTree>
    <p:extLst>
      <p:ext uri="{BB962C8B-B14F-4D97-AF65-F5344CB8AC3E}">
        <p14:creationId xmlns:p14="http://schemas.microsoft.com/office/powerpoint/2010/main" val="13698167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BFCBE8-B58D-4514-A2C8-E482184EF30B}"/>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300" b="1">
                <a:solidFill>
                  <a:srgbClr val="163139"/>
                </a:solidFill>
                <a:latin typeface="Arial"/>
                <a:ea typeface="Arial"/>
                <a:cs typeface="Arial"/>
              </a:defRPr>
            </a:defPPr>
            <a:lvl1pPr algn="l">
              <a:defRPr sz="3300" b="1">
                <a:solidFill>
                  <a:srgbClr val="163139"/>
                </a:solidFill>
                <a:latin typeface="Arial"/>
                <a:ea typeface="Arial"/>
                <a:cs typeface="Arial"/>
              </a:defRPr>
            </a:lvl1pPr>
            <a:lvl2pPr algn="l">
              <a:defRPr sz="3300" b="1">
                <a:solidFill>
                  <a:srgbClr val="163139"/>
                </a:solidFill>
                <a:latin typeface="Arial"/>
                <a:ea typeface="Arial"/>
                <a:cs typeface="Arial"/>
              </a:defRPr>
            </a:lvl2pPr>
            <a:lvl3pPr algn="l">
              <a:defRPr sz="3300" b="1">
                <a:solidFill>
                  <a:srgbClr val="163139"/>
                </a:solidFill>
                <a:latin typeface="Arial"/>
                <a:ea typeface="Arial"/>
                <a:cs typeface="Arial"/>
              </a:defRPr>
            </a:lvl3pPr>
            <a:lvl4pPr algn="l">
              <a:defRPr sz="3300" b="1">
                <a:solidFill>
                  <a:srgbClr val="163139"/>
                </a:solidFill>
                <a:latin typeface="Arial"/>
                <a:ea typeface="Arial"/>
                <a:cs typeface="Arial"/>
              </a:defRPr>
            </a:lvl4pPr>
            <a:lvl5pPr algn="l">
              <a:defRPr sz="3300" b="1">
                <a:solidFill>
                  <a:srgbClr val="163139"/>
                </a:solidFill>
                <a:latin typeface="Arial"/>
                <a:ea typeface="Arial"/>
                <a:cs typeface="Arial"/>
              </a:defRPr>
            </a:lvl5pPr>
            <a:lvl6pPr algn="l">
              <a:defRPr sz="3300" b="1">
                <a:solidFill>
                  <a:srgbClr val="163139"/>
                </a:solidFill>
                <a:latin typeface="Arial"/>
                <a:ea typeface="Arial"/>
                <a:cs typeface="Arial"/>
              </a:defRPr>
            </a:lvl6pPr>
            <a:lvl7pPr algn="l">
              <a:defRPr sz="3300" b="1">
                <a:solidFill>
                  <a:srgbClr val="163139"/>
                </a:solidFill>
                <a:latin typeface="Arial"/>
                <a:ea typeface="Arial"/>
                <a:cs typeface="Arial"/>
              </a:defRPr>
            </a:lvl7pPr>
            <a:lvl8pPr algn="l">
              <a:defRPr sz="3300" b="1">
                <a:solidFill>
                  <a:srgbClr val="163139"/>
                </a:solidFill>
                <a:latin typeface="Arial"/>
                <a:ea typeface="Arial"/>
                <a:cs typeface="Arial"/>
              </a:defRPr>
            </a:lvl8pPr>
            <a:lvl9pPr algn="l">
              <a:defRPr sz="3300" b="1">
                <a:solidFill>
                  <a:srgbClr val="163139"/>
                </a:solidFill>
                <a:latin typeface="Arial"/>
                <a:ea typeface="Arial"/>
                <a:cs typeface="Arial"/>
              </a:defRPr>
            </a:lvl9pPr>
          </a:lstStyle>
          <a:p xmlns:a="http://schemas.openxmlformats.org/drawingml/2006/main">
            <a:pPr algn="l">
              <a:defRPr sz="3300" b="1">
                <a:solidFill>
                  <a:srgbClr val="163139"/>
                </a:solidFill>
                <a:latin typeface="Arial"/>
                <a:ea typeface="Arial"/>
                <a:cs typeface="Arial"/>
              </a:defRPr>
            </a:pPr>
            <a:r>
              <a:rPr sz="3300" b="1">
                <a:solidFill>
                  <a:srgbClr val="163139"/>
                </a:solidFill>
                <a:latin typeface="Arial"/>
                <a:ea typeface="Arial"/>
                <a:cs typeface="Arial"/>
              </a:rPr>
              <a:t>Current progress: completed pilot</a:t>
            </a:r>
          </a:p>
        </p:txBody>
      </p:sp>
      <p:sp>
        <p:nvSpPr>
          <p:cNvPr id="2" name="">
            <a:extLst xmlns:a="http://schemas.openxmlformats.org/drawingml/2006/main">
              <a:ext uri="{FF2B5EF4-FFF2-40B4-BE49-F238E27FC236}">
                <a16:creationId xmlns:a16="http://schemas.microsoft.com/office/drawing/2014/main" id="{B6F5D0F1-8F75-40C9-A068-81E75F279895}"/>
              </a:ext>
            </a:extLst>
          </p:cNvPr>
          <p:cNvSpPr>
            <a:spLocks xmlns:a="http://schemas.openxmlformats.org/drawingml/2006/main" noGrp="1"/>
          </p:cNvSpPr>
          <p:nvPr/>
        </p:nvSpPr>
        <p:spPr>
          <a:xfrm xmlns:a="http://schemas.openxmlformats.org/drawingml/2006/main">
            <a:off x="10810875" y="640080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275" b="0">
                <a:solidFill>
                  <a:srgbClr val="52666D"/>
                </a:solidFill>
                <a:latin typeface="Arial"/>
                <a:ea typeface="Arial"/>
                <a:cs typeface="Arial"/>
              </a:defRPr>
            </a:defPPr>
            <a:lvl1pPr algn="r">
              <a:defRPr sz="1275" b="0">
                <a:solidFill>
                  <a:srgbClr val="52666D"/>
                </a:solidFill>
                <a:latin typeface="Arial"/>
                <a:ea typeface="Arial"/>
                <a:cs typeface="Arial"/>
              </a:defRPr>
            </a:lvl1pPr>
            <a:lvl2pPr algn="r">
              <a:defRPr sz="1275" b="0">
                <a:solidFill>
                  <a:srgbClr val="52666D"/>
                </a:solidFill>
                <a:latin typeface="Arial"/>
                <a:ea typeface="Arial"/>
                <a:cs typeface="Arial"/>
              </a:defRPr>
            </a:lvl2pPr>
            <a:lvl3pPr algn="r">
              <a:defRPr sz="1275" b="0">
                <a:solidFill>
                  <a:srgbClr val="52666D"/>
                </a:solidFill>
                <a:latin typeface="Arial"/>
                <a:ea typeface="Arial"/>
                <a:cs typeface="Arial"/>
              </a:defRPr>
            </a:lvl3pPr>
            <a:lvl4pPr algn="r">
              <a:defRPr sz="1275" b="0">
                <a:solidFill>
                  <a:srgbClr val="52666D"/>
                </a:solidFill>
                <a:latin typeface="Arial"/>
                <a:ea typeface="Arial"/>
                <a:cs typeface="Arial"/>
              </a:defRPr>
            </a:lvl4pPr>
            <a:lvl5pPr algn="r">
              <a:defRPr sz="1275" b="0">
                <a:solidFill>
                  <a:srgbClr val="52666D"/>
                </a:solidFill>
                <a:latin typeface="Arial"/>
                <a:ea typeface="Arial"/>
                <a:cs typeface="Arial"/>
              </a:defRPr>
            </a:lvl5pPr>
            <a:lvl6pPr algn="r">
              <a:defRPr sz="1275" b="0">
                <a:solidFill>
                  <a:srgbClr val="52666D"/>
                </a:solidFill>
                <a:latin typeface="Arial"/>
                <a:ea typeface="Arial"/>
                <a:cs typeface="Arial"/>
              </a:defRPr>
            </a:lvl6pPr>
            <a:lvl7pPr algn="r">
              <a:defRPr sz="1275" b="0">
                <a:solidFill>
                  <a:srgbClr val="52666D"/>
                </a:solidFill>
                <a:latin typeface="Arial"/>
                <a:ea typeface="Arial"/>
                <a:cs typeface="Arial"/>
              </a:defRPr>
            </a:lvl7pPr>
            <a:lvl8pPr algn="r">
              <a:defRPr sz="1275" b="0">
                <a:solidFill>
                  <a:srgbClr val="52666D"/>
                </a:solidFill>
                <a:latin typeface="Arial"/>
                <a:ea typeface="Arial"/>
                <a:cs typeface="Arial"/>
              </a:defRPr>
            </a:lvl8pPr>
            <a:lvl9pPr algn="r">
              <a:defRPr sz="1275" b="0">
                <a:solidFill>
                  <a:srgbClr val="52666D"/>
                </a:solidFill>
                <a:latin typeface="Arial"/>
                <a:ea typeface="Arial"/>
                <a:cs typeface="Arial"/>
              </a:defRPr>
            </a:lvl9pPr>
          </a:lstStyle>
          <a:p xmlns:a="http://schemas.openxmlformats.org/drawingml/2006/main">
            <a:pPr algn="r">
              <a:defRPr sz="1275" b="0">
                <a:solidFill>
                  <a:srgbClr val="52666D"/>
                </a:solidFill>
                <a:latin typeface="Arial"/>
                <a:ea typeface="Arial"/>
                <a:cs typeface="Arial"/>
              </a:defRPr>
            </a:pPr>
            <a:r>
              <a:rPr sz="1275" b="0">
                <a:solidFill>
                  <a:srgbClr val="52666D"/>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2538941F-A60F-4EEF-99A0-8AEFED713D40}"/>
              </a:ext>
            </a:extLst>
          </p:cNvPr>
          <p:cNvSpPr>
            <a:spLocks xmlns:a="http://schemas.openxmlformats.org/drawingml/2006/main" noGrp="1"/>
          </p:cNvSpPr>
          <p:nvPr/>
        </p:nvSpPr>
        <p:spPr>
          <a:xfrm xmlns:a="http://schemas.openxmlformats.org/drawingml/2006/main">
            <a:off x="609600" y="1257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087E75"/>
                </a:solidFill>
                <a:latin typeface="Arial"/>
                <a:ea typeface="Arial"/>
                <a:cs typeface="Arial"/>
              </a:defRPr>
            </a:defPPr>
            <a:lvl1pPr algn="l">
              <a:defRPr sz="2175" b="1">
                <a:solidFill>
                  <a:srgbClr val="087E75"/>
                </a:solidFill>
                <a:latin typeface="Arial"/>
                <a:ea typeface="Arial"/>
                <a:cs typeface="Arial"/>
              </a:defRPr>
            </a:lvl1pPr>
            <a:lvl2pPr algn="l">
              <a:defRPr sz="2175" b="1">
                <a:solidFill>
                  <a:srgbClr val="087E75"/>
                </a:solidFill>
                <a:latin typeface="Arial"/>
                <a:ea typeface="Arial"/>
                <a:cs typeface="Arial"/>
              </a:defRPr>
            </a:lvl2pPr>
            <a:lvl3pPr algn="l">
              <a:defRPr sz="2175" b="1">
                <a:solidFill>
                  <a:srgbClr val="087E75"/>
                </a:solidFill>
                <a:latin typeface="Arial"/>
                <a:ea typeface="Arial"/>
                <a:cs typeface="Arial"/>
              </a:defRPr>
            </a:lvl3pPr>
            <a:lvl4pPr algn="l">
              <a:defRPr sz="2175" b="1">
                <a:solidFill>
                  <a:srgbClr val="087E75"/>
                </a:solidFill>
                <a:latin typeface="Arial"/>
                <a:ea typeface="Arial"/>
                <a:cs typeface="Arial"/>
              </a:defRPr>
            </a:lvl4pPr>
            <a:lvl5pPr algn="l">
              <a:defRPr sz="2175" b="1">
                <a:solidFill>
                  <a:srgbClr val="087E75"/>
                </a:solidFill>
                <a:latin typeface="Arial"/>
                <a:ea typeface="Arial"/>
                <a:cs typeface="Arial"/>
              </a:defRPr>
            </a:lvl5pPr>
            <a:lvl6pPr algn="l">
              <a:defRPr sz="2175" b="1">
                <a:solidFill>
                  <a:srgbClr val="087E75"/>
                </a:solidFill>
                <a:latin typeface="Arial"/>
                <a:ea typeface="Arial"/>
                <a:cs typeface="Arial"/>
              </a:defRPr>
            </a:lvl6pPr>
            <a:lvl7pPr algn="l">
              <a:defRPr sz="2175" b="1">
                <a:solidFill>
                  <a:srgbClr val="087E75"/>
                </a:solidFill>
                <a:latin typeface="Arial"/>
                <a:ea typeface="Arial"/>
                <a:cs typeface="Arial"/>
              </a:defRPr>
            </a:lvl7pPr>
            <a:lvl8pPr algn="l">
              <a:defRPr sz="2175" b="1">
                <a:solidFill>
                  <a:srgbClr val="087E75"/>
                </a:solidFill>
                <a:latin typeface="Arial"/>
                <a:ea typeface="Arial"/>
                <a:cs typeface="Arial"/>
              </a:defRPr>
            </a:lvl8pPr>
            <a:lvl9pPr algn="l">
              <a:defRPr sz="2175" b="1">
                <a:solidFill>
                  <a:srgbClr val="087E75"/>
                </a:solidFill>
                <a:latin typeface="Arial"/>
                <a:ea typeface="Arial"/>
                <a:cs typeface="Arial"/>
              </a:defRPr>
            </a:lvl9pPr>
          </a:lstStyle>
          <a:p xmlns:a="http://schemas.openxmlformats.org/drawingml/2006/main">
            <a:pPr algn="l">
              <a:defRPr sz="2175" b="1">
                <a:solidFill>
                  <a:srgbClr val="087E75"/>
                </a:solidFill>
                <a:latin typeface="Arial"/>
                <a:ea typeface="Arial"/>
                <a:cs typeface="Arial"/>
              </a:defRPr>
            </a:pPr>
            <a:r>
              <a:rPr sz="2175" b="1">
                <a:solidFill>
                  <a:srgbClr val="087E75"/>
                </a:solidFill>
                <a:latin typeface="Arial"/>
                <a:ea typeface="Arial"/>
                <a:cs typeface="Arial"/>
              </a:rPr>
              <a:t>Test macro-F1 (%)</a:t>
            </a:r>
          </a:p>
        </p:txBody>
      </p:sp>
      <p:graphicFrame>
        <p:nvGraphicFramePr>
          <p:cNvPr id="4" name="">
            <a:extLst xmlns:a="http://schemas.openxmlformats.org/drawingml/2006/main">
              <a:ext uri="{FF2B5EF4-FFF2-40B4-BE49-F238E27FC236}">
                <a16:creationId xmlns:a16="http://schemas.microsoft.com/office/drawing/2014/main" id="{D5918C05-2C3C-47E9-AD41-5A641E2A4EAE}"/>
              </a:ext>
            </a:extLst>
          </p:cNvPr>
          <p:cNvGraphicFramePr/>
          <p:nvPr/>
        </p:nvGraphicFramePr>
        <p:xfrm>
          <a:off xmlns:a="http://schemas.openxmlformats.org/drawingml/2006/main" x="609600" y="1809750"/>
          <a:ext xmlns:a="http://schemas.openxmlformats.org/drawingml/2006/main" cx="10972800" cy="2857500"/>
        </p:xfrm>
        <a:graphic xmlns:a="http://schemas.openxmlformats.org/drawingml/2006/main">
          <a:graphicData uri="http://schemas.openxmlformats.org/drawingml/2006/table">
            <a:tbl>
              <a:tblPr/>
              <a:tblGrid>
                <a:gridCol w="3714750"/>
                <a:gridCol w="2419350"/>
                <a:gridCol w="2419350"/>
                <a:gridCol w="2419350"/>
              </a:tblGrid>
              <a:tr h="476250">
                <a:tc>
                  <a:txBody>
                    <a:bodyPr lIns="114300" tIns="114300" rIns="114300" bIns="114300"/>
                    <a:lstStyle/>
                    <a:p>
                      <a:pPr algn="l"/>
                      <a:r>
                        <a:rPr sz="2025" b="1">
                          <a:solidFill>
                            <a:srgbClr val="FFFFFF"/>
                          </a:solidFill>
                          <a:latin typeface="Arial"/>
                          <a:ea typeface="Arial"/>
                          <a:cs typeface="Arial"/>
                        </a:rPr>
                        <a:t>Method</a:t>
                      </a:r>
                    </a:p>
                  </a:txBody>
                  <a:tcPr marL="91440" marR="91440" marT="45720" marB="45720" anchor="ctr">
                    <a:lnL w="9525">
                      <a:solidFill>
                        <a:srgbClr val="D7E3E2"/>
                      </a:solidFill>
                      <a:prstDash val="solid"/>
                    </a:lnL>
                    <a:lnR w="9525">
                      <a:solidFill>
                        <a:srgbClr val="D7E3E2"/>
                      </a:solidFill>
                      <a:prstDash val="solid"/>
                    </a:lnR>
                    <a:lnT w="9525">
                      <a:solidFill>
                        <a:srgbClr val="D7E3E2"/>
                      </a:solidFill>
                      <a:prstDash val="solid"/>
                    </a:lnT>
                    <a:lnB w="9525">
                      <a:solidFill>
                        <a:srgbClr val="D7E3E2"/>
                      </a:solidFill>
                      <a:prstDash val="solid"/>
                    </a:lnB>
                    <a:solidFill>
                      <a:srgbClr val="163139"/>
                    </a:solidFill>
                  </a:tcPr>
                </a:tc>
                <a:tc>
                  <a:txBody>
                    <a:bodyPr lIns="114300" tIns="114300" rIns="114300" bIns="114300"/>
                    <a:lstStyle/>
                    <a:p>
                      <a:pPr algn="ctr"/>
                      <a:r>
                        <a:rPr sz="2025" b="1">
                          <a:solidFill>
                            <a:srgbClr val="FFFFFF"/>
                          </a:solidFill>
                          <a:latin typeface="Arial"/>
                          <a:ea typeface="Arial"/>
                          <a:cs typeface="Arial"/>
                        </a:rPr>
                        <a:t>10 / class</a:t>
                      </a:r>
                    </a:p>
                  </a:txBody>
                  <a:tcPr marL="91440" marR="91440" marT="45720" marB="45720" anchor="ctr">
                    <a:lnR w="9525">
                      <a:solidFill>
                        <a:srgbClr val="D7E3E2"/>
                      </a:solidFill>
                      <a:prstDash val="solid"/>
                    </a:lnR>
                    <a:lnT w="9525">
                      <a:solidFill>
                        <a:srgbClr val="D7E3E2"/>
                      </a:solidFill>
                      <a:prstDash val="solid"/>
                    </a:lnT>
                    <a:lnB w="9525">
                      <a:solidFill>
                        <a:srgbClr val="D7E3E2"/>
                      </a:solidFill>
                      <a:prstDash val="solid"/>
                    </a:lnB>
                    <a:solidFill>
                      <a:srgbClr val="163139"/>
                    </a:solidFill>
                  </a:tcPr>
                </a:tc>
                <a:tc>
                  <a:txBody>
                    <a:bodyPr lIns="114300" tIns="114300" rIns="114300" bIns="114300"/>
                    <a:lstStyle/>
                    <a:p>
                      <a:pPr algn="ctr"/>
                      <a:r>
                        <a:rPr sz="2025" b="1">
                          <a:solidFill>
                            <a:srgbClr val="FFFFFF"/>
                          </a:solidFill>
                          <a:latin typeface="Arial"/>
                          <a:ea typeface="Arial"/>
                          <a:cs typeface="Arial"/>
                        </a:rPr>
                        <a:t>100 / class</a:t>
                      </a:r>
                    </a:p>
                  </a:txBody>
                  <a:tcPr marL="91440" marR="91440" marT="45720" marB="45720" anchor="ctr">
                    <a:lnR w="9525">
                      <a:solidFill>
                        <a:srgbClr val="D7E3E2"/>
                      </a:solidFill>
                      <a:prstDash val="solid"/>
                    </a:lnR>
                    <a:lnT w="9525">
                      <a:solidFill>
                        <a:srgbClr val="D7E3E2"/>
                      </a:solidFill>
                      <a:prstDash val="solid"/>
                    </a:lnT>
                    <a:lnB w="9525">
                      <a:solidFill>
                        <a:srgbClr val="D7E3E2"/>
                      </a:solidFill>
                      <a:prstDash val="solid"/>
                    </a:lnB>
                    <a:solidFill>
                      <a:srgbClr val="163139"/>
                    </a:solidFill>
                  </a:tcPr>
                </a:tc>
                <a:tc>
                  <a:txBody>
                    <a:bodyPr lIns="114300" tIns="114300" rIns="114300" bIns="114300"/>
                    <a:lstStyle/>
                    <a:p>
                      <a:pPr algn="ctr"/>
                      <a:r>
                        <a:rPr sz="2025" b="1">
                          <a:solidFill>
                            <a:srgbClr val="FFFFFF"/>
                          </a:solidFill>
                          <a:latin typeface="Arial"/>
                          <a:ea typeface="Arial"/>
                          <a:cs typeface="Arial"/>
                        </a:rPr>
                        <a:t>Full pool</a:t>
                      </a:r>
                    </a:p>
                  </a:txBody>
                  <a:tcPr marL="91440" marR="91440" marT="45720" marB="45720" anchor="ctr">
                    <a:lnR w="9525">
                      <a:solidFill>
                        <a:srgbClr val="D7E3E2"/>
                      </a:solidFill>
                      <a:prstDash val="solid"/>
                    </a:lnR>
                    <a:lnT w="9525">
                      <a:solidFill>
                        <a:srgbClr val="D7E3E2"/>
                      </a:solidFill>
                      <a:prstDash val="solid"/>
                    </a:lnT>
                    <a:lnB w="9525">
                      <a:solidFill>
                        <a:srgbClr val="D7E3E2"/>
                      </a:solidFill>
                      <a:prstDash val="solid"/>
                    </a:lnB>
                    <a:solidFill>
                      <a:srgbClr val="163139"/>
                    </a:solidFill>
                  </a:tcPr>
                </a:tc>
              </a:tr>
              <a:tr h="476250">
                <a:tc>
                  <a:txBody>
                    <a:bodyPr lIns="114300" tIns="114300" rIns="114300" bIns="114300"/>
                    <a:lstStyle/>
                    <a:p>
                      <a:pPr algn="l"/>
                      <a:r>
                        <a:rPr sz="2025" b="0">
                          <a:solidFill>
                            <a:srgbClr val="163139"/>
                          </a:solidFill>
                          <a:latin typeface="Arial"/>
                          <a:ea typeface="Arial"/>
                          <a:cs typeface="Arial"/>
                        </a:rPr>
                        <a:t>TF-IDF + LR</a:t>
                      </a:r>
                    </a:p>
                  </a:txBody>
                  <a:tcPr marL="91440" marR="91440" marT="45720" marB="45720" anchor="ctr">
                    <a:lnL w="9525">
                      <a:solidFill>
                        <a:srgbClr val="D7E3E2"/>
                      </a:solidFill>
                      <a:prstDash val="solid"/>
                    </a:lnL>
                    <a:lnR w="9525">
                      <a:solidFill>
                        <a:srgbClr val="D7E3E2"/>
                      </a:solidFill>
                      <a:prstDash val="solid"/>
                    </a:lnR>
                    <a:lnB w="9525">
                      <a:solidFill>
                        <a:srgbClr val="D7E3E2"/>
                      </a:solidFill>
                      <a:prstDash val="solid"/>
                    </a:lnB>
                    <a:solidFill>
                      <a:srgbClr val="F2F7F6"/>
                    </a:solidFill>
                  </a:tcPr>
                </a:tc>
                <a:tc>
                  <a:txBody>
                    <a:bodyPr lIns="114300" tIns="114300" rIns="114300" bIns="114300"/>
                    <a:lstStyle/>
                    <a:p>
                      <a:pPr algn="ctr"/>
                      <a:r>
                        <a:rPr sz="2025" b="0">
                          <a:solidFill>
                            <a:srgbClr val="163139"/>
                          </a:solidFill>
                          <a:latin typeface="Arial"/>
                          <a:ea typeface="Arial"/>
                          <a:cs typeface="Arial"/>
                        </a:rPr>
                        <a:t>40.4 ± 1.9</a:t>
                      </a:r>
                    </a:p>
                  </a:txBody>
                  <a:tcPr marL="91440" marR="91440" marT="45720" marB="45720" anchor="ctr">
                    <a:lnR w="9525">
                      <a:solidFill>
                        <a:srgbClr val="D7E3E2"/>
                      </a:solidFill>
                      <a:prstDash val="solid"/>
                    </a:lnR>
                    <a:lnB w="9525">
                      <a:solidFill>
                        <a:srgbClr val="D7E3E2"/>
                      </a:solidFill>
                      <a:prstDash val="solid"/>
                    </a:lnB>
                    <a:solidFill>
                      <a:srgbClr val="F2F7F6"/>
                    </a:solidFill>
                  </a:tcPr>
                </a:tc>
                <a:tc>
                  <a:txBody>
                    <a:bodyPr lIns="114300" tIns="114300" rIns="114300" bIns="114300"/>
                    <a:lstStyle/>
                    <a:p>
                      <a:pPr algn="ctr"/>
                      <a:r>
                        <a:rPr sz="2025" b="0">
                          <a:solidFill>
                            <a:srgbClr val="163139"/>
                          </a:solidFill>
                          <a:latin typeface="Arial"/>
                          <a:ea typeface="Arial"/>
                          <a:cs typeface="Arial"/>
                        </a:rPr>
                        <a:t>59.1 ± 0.8</a:t>
                      </a:r>
                    </a:p>
                  </a:txBody>
                  <a:tcPr marL="91440" marR="91440" marT="45720" marB="45720" anchor="ctr">
                    <a:lnR w="9525">
                      <a:solidFill>
                        <a:srgbClr val="D7E3E2"/>
                      </a:solidFill>
                      <a:prstDash val="solid"/>
                    </a:lnR>
                    <a:lnB w="9525">
                      <a:solidFill>
                        <a:srgbClr val="D7E3E2"/>
                      </a:solidFill>
                      <a:prstDash val="solid"/>
                    </a:lnB>
                    <a:solidFill>
                      <a:srgbClr val="F2F7F6"/>
                    </a:solidFill>
                  </a:tcPr>
                </a:tc>
                <a:tc>
                  <a:txBody>
                    <a:bodyPr lIns="114300" tIns="114300" rIns="114300" bIns="114300"/>
                    <a:lstStyle/>
                    <a:p>
                      <a:pPr algn="ctr"/>
                      <a:r>
                        <a:rPr sz="2025" b="0">
                          <a:solidFill>
                            <a:srgbClr val="163139"/>
                          </a:solidFill>
                          <a:latin typeface="Arial"/>
                          <a:ea typeface="Arial"/>
                          <a:cs typeface="Arial"/>
                        </a:rPr>
                        <a:t>81.7</a:t>
                      </a:r>
                    </a:p>
                  </a:txBody>
                  <a:tcPr marL="91440" marR="91440" marT="45720" marB="45720" anchor="ctr">
                    <a:lnR w="9525">
                      <a:solidFill>
                        <a:srgbClr val="D7E3E2"/>
                      </a:solidFill>
                      <a:prstDash val="solid"/>
                    </a:lnR>
                    <a:lnB w="9525">
                      <a:solidFill>
                        <a:srgbClr val="D7E3E2"/>
                      </a:solidFill>
                      <a:prstDash val="solid"/>
                    </a:lnB>
                    <a:solidFill>
                      <a:srgbClr val="F2F7F6"/>
                    </a:solidFill>
                  </a:tcPr>
                </a:tc>
              </a:tr>
              <a:tr h="476250">
                <a:tc>
                  <a:txBody>
                    <a:bodyPr lIns="114300" tIns="114300" rIns="114300" bIns="114300"/>
                    <a:lstStyle/>
                    <a:p>
                      <a:pPr algn="l"/>
                      <a:r>
                        <a:rPr sz="2025" b="0">
                          <a:solidFill>
                            <a:srgbClr val="163139"/>
                          </a:solidFill>
                          <a:latin typeface="Arial"/>
                          <a:ea typeface="Arial"/>
                          <a:cs typeface="Arial"/>
                        </a:rPr>
                        <a:t>TF-IDF + SVM</a:t>
                      </a:r>
                    </a:p>
                  </a:txBody>
                  <a:tcPr marL="91440" marR="91440" marT="45720" marB="45720" anchor="ctr">
                    <a:lnL w="9525">
                      <a:solidFill>
                        <a:srgbClr val="D7E3E2"/>
                      </a:solidFill>
                      <a:prstDash val="solid"/>
                    </a:lnL>
                    <a:lnR w="9525">
                      <a:solidFill>
                        <a:srgbClr val="D7E3E2"/>
                      </a:solidFill>
                      <a:prstDash val="solid"/>
                    </a:lnR>
                    <a:lnB w="9525">
                      <a:solidFill>
                        <a:srgbClr val="D7E3E2"/>
                      </a:solidFill>
                      <a:prstDash val="solid"/>
                    </a:lnB>
                    <a:solidFill>
                      <a:srgbClr val="FFFFFF"/>
                    </a:solidFill>
                  </a:tcPr>
                </a:tc>
                <a:tc>
                  <a:txBody>
                    <a:bodyPr lIns="114300" tIns="114300" rIns="114300" bIns="114300"/>
                    <a:lstStyle/>
                    <a:p>
                      <a:pPr algn="ctr"/>
                      <a:r>
                        <a:rPr sz="2025" b="0">
                          <a:solidFill>
                            <a:srgbClr val="163139"/>
                          </a:solidFill>
                          <a:latin typeface="Arial"/>
                          <a:ea typeface="Arial"/>
                          <a:cs typeface="Arial"/>
                        </a:rPr>
                        <a:t>39.8 ± 2.3</a:t>
                      </a:r>
                    </a:p>
                  </a:txBody>
                  <a:tcPr marL="91440" marR="91440" marT="45720" marB="45720" anchor="ctr">
                    <a:lnR w="9525">
                      <a:solidFill>
                        <a:srgbClr val="D7E3E2"/>
                      </a:solidFill>
                      <a:prstDash val="solid"/>
                    </a:lnR>
                    <a:lnB w="9525">
                      <a:solidFill>
                        <a:srgbClr val="D7E3E2"/>
                      </a:solidFill>
                      <a:prstDash val="solid"/>
                    </a:lnB>
                    <a:solidFill>
                      <a:srgbClr val="FFFFFF"/>
                    </a:solidFill>
                  </a:tcPr>
                </a:tc>
                <a:tc>
                  <a:txBody>
                    <a:bodyPr lIns="114300" tIns="114300" rIns="114300" bIns="114300"/>
                    <a:lstStyle/>
                    <a:p>
                      <a:pPr algn="ctr"/>
                      <a:r>
                        <a:rPr sz="2025" b="0">
                          <a:solidFill>
                            <a:srgbClr val="163139"/>
                          </a:solidFill>
                          <a:latin typeface="Arial"/>
                          <a:ea typeface="Arial"/>
                          <a:cs typeface="Arial"/>
                        </a:rPr>
                        <a:t>59.0 ± 0.8</a:t>
                      </a:r>
                    </a:p>
                  </a:txBody>
                  <a:tcPr marL="91440" marR="91440" marT="45720" marB="45720" anchor="ctr">
                    <a:lnR w="9525">
                      <a:solidFill>
                        <a:srgbClr val="D7E3E2"/>
                      </a:solidFill>
                      <a:prstDash val="solid"/>
                    </a:lnR>
                    <a:lnB w="9525">
                      <a:solidFill>
                        <a:srgbClr val="D7E3E2"/>
                      </a:solidFill>
                      <a:prstDash val="solid"/>
                    </a:lnB>
                    <a:solidFill>
                      <a:srgbClr val="FFFFFF"/>
                    </a:solidFill>
                  </a:tcPr>
                </a:tc>
                <a:tc>
                  <a:txBody>
                    <a:bodyPr lIns="114300" tIns="114300" rIns="114300" bIns="114300"/>
                    <a:lstStyle/>
                    <a:p>
                      <a:pPr algn="ctr"/>
                      <a:r>
                        <a:rPr sz="2025" b="0">
                          <a:solidFill>
                            <a:srgbClr val="163139"/>
                          </a:solidFill>
                          <a:latin typeface="Arial"/>
                          <a:ea typeface="Arial"/>
                          <a:cs typeface="Arial"/>
                        </a:rPr>
                        <a:t>84.3</a:t>
                      </a:r>
                    </a:p>
                  </a:txBody>
                  <a:tcPr marL="91440" marR="91440" marT="45720" marB="45720" anchor="ctr">
                    <a:lnR w="9525">
                      <a:solidFill>
                        <a:srgbClr val="D7E3E2"/>
                      </a:solidFill>
                      <a:prstDash val="solid"/>
                    </a:lnR>
                    <a:lnB w="9525">
                      <a:solidFill>
                        <a:srgbClr val="D7E3E2"/>
                      </a:solidFill>
                      <a:prstDash val="solid"/>
                    </a:lnB>
                    <a:solidFill>
                      <a:srgbClr val="FFFFFF"/>
                    </a:solidFill>
                  </a:tcPr>
                </a:tc>
              </a:tr>
              <a:tr h="476250">
                <a:tc>
                  <a:txBody>
                    <a:bodyPr lIns="114300" tIns="114300" rIns="114300" bIns="114300"/>
                    <a:lstStyle/>
                    <a:p>
                      <a:pPr algn="l"/>
                      <a:r>
                        <a:rPr sz="2025" b="0">
                          <a:solidFill>
                            <a:srgbClr val="163139"/>
                          </a:solidFill>
                          <a:latin typeface="Arial"/>
                          <a:ea typeface="Arial"/>
                          <a:cs typeface="Arial"/>
                        </a:rPr>
                        <a:t>BERT + LR</a:t>
                      </a:r>
                    </a:p>
                  </a:txBody>
                  <a:tcPr marL="91440" marR="91440" marT="45720" marB="45720" anchor="ctr">
                    <a:lnL w="9525">
                      <a:solidFill>
                        <a:srgbClr val="D7E3E2"/>
                      </a:solidFill>
                      <a:prstDash val="solid"/>
                    </a:lnL>
                    <a:lnR w="9525">
                      <a:solidFill>
                        <a:srgbClr val="D7E3E2"/>
                      </a:solidFill>
                      <a:prstDash val="solid"/>
                    </a:lnR>
                    <a:lnB w="9525">
                      <a:solidFill>
                        <a:srgbClr val="D7E3E2"/>
                      </a:solidFill>
                      <a:prstDash val="solid"/>
                    </a:lnB>
                    <a:solidFill>
                      <a:srgbClr val="F2F7F6"/>
                    </a:solidFill>
                  </a:tcPr>
                </a:tc>
                <a:tc>
                  <a:txBody>
                    <a:bodyPr lIns="114300" tIns="114300" rIns="114300" bIns="114300"/>
                    <a:lstStyle/>
                    <a:p>
                      <a:pPr algn="ctr"/>
                      <a:r>
                        <a:rPr sz="2025" b="0">
                          <a:solidFill>
                            <a:srgbClr val="163139"/>
                          </a:solidFill>
                          <a:latin typeface="Arial"/>
                          <a:ea typeface="Arial"/>
                          <a:cs typeface="Arial"/>
                        </a:rPr>
                        <a:t>41.8 ± 4.6</a:t>
                      </a:r>
                    </a:p>
                  </a:txBody>
                  <a:tcPr marL="91440" marR="91440" marT="45720" marB="45720" anchor="ctr">
                    <a:lnR w="9525">
                      <a:solidFill>
                        <a:srgbClr val="D7E3E2"/>
                      </a:solidFill>
                      <a:prstDash val="solid"/>
                    </a:lnR>
                    <a:lnB w="9525">
                      <a:solidFill>
                        <a:srgbClr val="D7E3E2"/>
                      </a:solidFill>
                      <a:prstDash val="solid"/>
                    </a:lnB>
                    <a:solidFill>
                      <a:srgbClr val="F2F7F6"/>
                    </a:solidFill>
                  </a:tcPr>
                </a:tc>
                <a:tc>
                  <a:txBody>
                    <a:bodyPr lIns="114300" tIns="114300" rIns="114300" bIns="114300"/>
                    <a:lstStyle/>
                    <a:p>
                      <a:pPr algn="ctr"/>
                      <a:r>
                        <a:rPr sz="2025" b="0">
                          <a:solidFill>
                            <a:srgbClr val="163139"/>
                          </a:solidFill>
                          <a:latin typeface="Arial"/>
                          <a:ea typeface="Arial"/>
                          <a:cs typeface="Arial"/>
                        </a:rPr>
                        <a:t>64.4 ± 1.3</a:t>
                      </a:r>
                    </a:p>
                  </a:txBody>
                  <a:tcPr marL="91440" marR="91440" marT="45720" marB="45720" anchor="ctr">
                    <a:lnR w="9525">
                      <a:solidFill>
                        <a:srgbClr val="D7E3E2"/>
                      </a:solidFill>
                      <a:prstDash val="solid"/>
                    </a:lnR>
                    <a:lnB w="9525">
                      <a:solidFill>
                        <a:srgbClr val="D7E3E2"/>
                      </a:solidFill>
                      <a:prstDash val="solid"/>
                    </a:lnB>
                    <a:solidFill>
                      <a:srgbClr val="F2F7F6"/>
                    </a:solidFill>
                  </a:tcPr>
                </a:tc>
                <a:tc>
                  <a:txBody>
                    <a:bodyPr lIns="114300" tIns="114300" rIns="114300" bIns="114300"/>
                    <a:lstStyle/>
                    <a:p>
                      <a:pPr algn="ctr"/>
                      <a:r>
                        <a:rPr sz="2025" b="0">
                          <a:solidFill>
                            <a:srgbClr val="163139"/>
                          </a:solidFill>
                          <a:latin typeface="Arial"/>
                          <a:ea typeface="Arial"/>
                          <a:cs typeface="Arial"/>
                        </a:rPr>
                        <a:t>77.7</a:t>
                      </a:r>
                    </a:p>
                  </a:txBody>
                  <a:tcPr marL="91440" marR="91440" marT="45720" marB="45720" anchor="ctr">
                    <a:lnR w="9525">
                      <a:solidFill>
                        <a:srgbClr val="D7E3E2"/>
                      </a:solidFill>
                      <a:prstDash val="solid"/>
                    </a:lnR>
                    <a:lnB w="9525">
                      <a:solidFill>
                        <a:srgbClr val="D7E3E2"/>
                      </a:solidFill>
                      <a:prstDash val="solid"/>
                    </a:lnB>
                    <a:solidFill>
                      <a:srgbClr val="F2F7F6"/>
                    </a:solidFill>
                  </a:tcPr>
                </a:tc>
              </a:tr>
              <a:tr h="476250">
                <a:tc>
                  <a:txBody>
                    <a:bodyPr lIns="114300" tIns="114300" rIns="114300" bIns="114300"/>
                    <a:lstStyle/>
                    <a:p>
                      <a:pPr algn="l"/>
                      <a:r>
                        <a:rPr sz="2025" b="0">
                          <a:solidFill>
                            <a:srgbClr val="163139"/>
                          </a:solidFill>
                          <a:latin typeface="Arial"/>
                          <a:ea typeface="Arial"/>
                          <a:cs typeface="Arial"/>
                        </a:rPr>
                        <a:t>BioBERT + LR</a:t>
                      </a:r>
                    </a:p>
                  </a:txBody>
                  <a:tcPr marL="91440" marR="91440" marT="45720" marB="45720" anchor="ctr">
                    <a:lnL w="9525">
                      <a:solidFill>
                        <a:srgbClr val="D7E3E2"/>
                      </a:solidFill>
                      <a:prstDash val="solid"/>
                    </a:lnL>
                    <a:lnR w="9525">
                      <a:solidFill>
                        <a:srgbClr val="D7E3E2"/>
                      </a:solidFill>
                      <a:prstDash val="solid"/>
                    </a:lnR>
                    <a:lnB w="9525">
                      <a:solidFill>
                        <a:srgbClr val="D7E3E2"/>
                      </a:solidFill>
                      <a:prstDash val="solid"/>
                    </a:lnB>
                    <a:solidFill>
                      <a:srgbClr val="FFFFFF"/>
                    </a:solidFill>
                  </a:tcPr>
                </a:tc>
                <a:tc>
                  <a:txBody>
                    <a:bodyPr lIns="114300" tIns="114300" rIns="114300" bIns="114300"/>
                    <a:lstStyle/>
                    <a:p>
                      <a:pPr algn="ctr"/>
                      <a:r>
                        <a:rPr sz="2025" b="0">
                          <a:solidFill>
                            <a:srgbClr val="163139"/>
                          </a:solidFill>
                          <a:latin typeface="Arial"/>
                          <a:ea typeface="Arial"/>
                          <a:cs typeface="Arial"/>
                        </a:rPr>
                        <a:t>44.6 ± 6.1</a:t>
                      </a:r>
                    </a:p>
                  </a:txBody>
                  <a:tcPr marL="91440" marR="91440" marT="45720" marB="45720" anchor="ctr">
                    <a:lnR w="9525">
                      <a:solidFill>
                        <a:srgbClr val="D7E3E2"/>
                      </a:solidFill>
                      <a:prstDash val="solid"/>
                    </a:lnR>
                    <a:lnB w="9525">
                      <a:solidFill>
                        <a:srgbClr val="D7E3E2"/>
                      </a:solidFill>
                      <a:prstDash val="solid"/>
                    </a:lnB>
                    <a:solidFill>
                      <a:srgbClr val="FFFFFF"/>
                    </a:solidFill>
                  </a:tcPr>
                </a:tc>
                <a:tc>
                  <a:txBody>
                    <a:bodyPr lIns="114300" tIns="114300" rIns="114300" bIns="114300"/>
                    <a:lstStyle/>
                    <a:p>
                      <a:pPr algn="ctr"/>
                      <a:r>
                        <a:rPr sz="2025" b="0">
                          <a:solidFill>
                            <a:srgbClr val="163139"/>
                          </a:solidFill>
                          <a:latin typeface="Arial"/>
                          <a:ea typeface="Arial"/>
                          <a:cs typeface="Arial"/>
                        </a:rPr>
                        <a:t>67.8 ± 1.1</a:t>
                      </a:r>
                    </a:p>
                  </a:txBody>
                  <a:tcPr marL="91440" marR="91440" marT="45720" marB="45720" anchor="ctr">
                    <a:lnR w="9525">
                      <a:solidFill>
                        <a:srgbClr val="D7E3E2"/>
                      </a:solidFill>
                      <a:prstDash val="solid"/>
                    </a:lnR>
                    <a:lnB w="9525">
                      <a:solidFill>
                        <a:srgbClr val="D7E3E2"/>
                      </a:solidFill>
                      <a:prstDash val="solid"/>
                    </a:lnB>
                    <a:solidFill>
                      <a:srgbClr val="FFFFFF"/>
                    </a:solidFill>
                  </a:tcPr>
                </a:tc>
                <a:tc>
                  <a:txBody>
                    <a:bodyPr lIns="114300" tIns="114300" rIns="114300" bIns="114300"/>
                    <a:lstStyle/>
                    <a:p>
                      <a:pPr algn="ctr"/>
                      <a:r>
                        <a:rPr sz="2025" b="0">
                          <a:solidFill>
                            <a:srgbClr val="163139"/>
                          </a:solidFill>
                          <a:latin typeface="Arial"/>
                          <a:ea typeface="Arial"/>
                          <a:cs typeface="Arial"/>
                        </a:rPr>
                        <a:t>80.4</a:t>
                      </a:r>
                    </a:p>
                  </a:txBody>
                  <a:tcPr marL="91440" marR="91440" marT="45720" marB="45720" anchor="ctr">
                    <a:lnR w="9525">
                      <a:solidFill>
                        <a:srgbClr val="D7E3E2"/>
                      </a:solidFill>
                      <a:prstDash val="solid"/>
                    </a:lnR>
                    <a:lnB w="9525">
                      <a:solidFill>
                        <a:srgbClr val="D7E3E2"/>
                      </a:solidFill>
                      <a:prstDash val="solid"/>
                    </a:lnB>
                    <a:solidFill>
                      <a:srgbClr val="FFFFFF"/>
                    </a:solidFill>
                  </a:tcPr>
                </a:tc>
              </a:tr>
              <a:tr h="476250">
                <a:tc>
                  <a:txBody>
                    <a:bodyPr lIns="114300" tIns="114300" rIns="114300" bIns="114300"/>
                    <a:lstStyle/>
                    <a:p>
                      <a:pPr algn="l"/>
                      <a:r>
                        <a:rPr sz="2025" b="0">
                          <a:solidFill>
                            <a:srgbClr val="163139"/>
                          </a:solidFill>
                          <a:latin typeface="Arial"/>
                          <a:ea typeface="Arial"/>
                          <a:cs typeface="Arial"/>
                        </a:rPr>
                        <a:t>PubMedBERT + LR</a:t>
                      </a:r>
                    </a:p>
                  </a:txBody>
                  <a:tcPr marL="91440" marR="91440" marT="45720" marB="45720" anchor="ctr">
                    <a:lnL w="9525">
                      <a:solidFill>
                        <a:srgbClr val="D7E3E2"/>
                      </a:solidFill>
                      <a:prstDash val="solid"/>
                    </a:lnL>
                    <a:lnR w="9525">
                      <a:solidFill>
                        <a:srgbClr val="D7E3E2"/>
                      </a:solidFill>
                      <a:prstDash val="solid"/>
                    </a:lnR>
                    <a:lnB w="9525">
                      <a:solidFill>
                        <a:srgbClr val="D7E3E2"/>
                      </a:solidFill>
                      <a:prstDash val="solid"/>
                    </a:lnB>
                    <a:solidFill>
                      <a:srgbClr val="F2F7F6"/>
                    </a:solidFill>
                  </a:tcPr>
                </a:tc>
                <a:tc>
                  <a:txBody>
                    <a:bodyPr lIns="114300" tIns="114300" rIns="114300" bIns="114300"/>
                    <a:lstStyle/>
                    <a:p>
                      <a:pPr algn="ctr"/>
                      <a:r>
                        <a:rPr sz="2025" b="0">
                          <a:solidFill>
                            <a:srgbClr val="163139"/>
                          </a:solidFill>
                          <a:latin typeface="Arial"/>
                          <a:ea typeface="Arial"/>
                          <a:cs typeface="Arial"/>
                        </a:rPr>
                        <a:t>43.0 ± 2.2</a:t>
                      </a:r>
                    </a:p>
                  </a:txBody>
                  <a:tcPr marL="91440" marR="91440" marT="45720" marB="45720" anchor="ctr">
                    <a:lnR w="9525">
                      <a:solidFill>
                        <a:srgbClr val="D7E3E2"/>
                      </a:solidFill>
                      <a:prstDash val="solid"/>
                    </a:lnR>
                    <a:lnB w="9525">
                      <a:solidFill>
                        <a:srgbClr val="D7E3E2"/>
                      </a:solidFill>
                      <a:prstDash val="solid"/>
                    </a:lnB>
                    <a:solidFill>
                      <a:srgbClr val="F2F7F6"/>
                    </a:solidFill>
                  </a:tcPr>
                </a:tc>
                <a:tc>
                  <a:txBody>
                    <a:bodyPr lIns="114300" tIns="114300" rIns="114300" bIns="114300"/>
                    <a:lstStyle/>
                    <a:p>
                      <a:pPr algn="ctr"/>
                      <a:r>
                        <a:rPr sz="2025" b="0">
                          <a:solidFill>
                            <a:srgbClr val="163139"/>
                          </a:solidFill>
                          <a:latin typeface="Arial"/>
                          <a:ea typeface="Arial"/>
                          <a:cs typeface="Arial"/>
                        </a:rPr>
                        <a:t>65.8 ± 1.7</a:t>
                      </a:r>
                    </a:p>
                  </a:txBody>
                  <a:tcPr marL="91440" marR="91440" marT="45720" marB="45720" anchor="ctr">
                    <a:lnR w="9525">
                      <a:solidFill>
                        <a:srgbClr val="D7E3E2"/>
                      </a:solidFill>
                      <a:prstDash val="solid"/>
                    </a:lnR>
                    <a:lnB w="9525">
                      <a:solidFill>
                        <a:srgbClr val="D7E3E2"/>
                      </a:solidFill>
                      <a:prstDash val="solid"/>
                    </a:lnB>
                    <a:solidFill>
                      <a:srgbClr val="F2F7F6"/>
                    </a:solidFill>
                  </a:tcPr>
                </a:tc>
                <a:tc>
                  <a:txBody>
                    <a:bodyPr lIns="114300" tIns="114300" rIns="114300" bIns="114300"/>
                    <a:lstStyle/>
                    <a:p>
                      <a:pPr algn="ctr"/>
                      <a:r>
                        <a:rPr sz="2025" b="0">
                          <a:solidFill>
                            <a:srgbClr val="163139"/>
                          </a:solidFill>
                          <a:latin typeface="Arial"/>
                          <a:ea typeface="Arial"/>
                          <a:cs typeface="Arial"/>
                        </a:rPr>
                        <a:t>82.6</a:t>
                      </a:r>
                    </a:p>
                  </a:txBody>
                  <a:tcPr marL="91440" marR="91440" marT="45720" marB="45720" anchor="ctr">
                    <a:lnR w="9525">
                      <a:solidFill>
                        <a:srgbClr val="D7E3E2"/>
                      </a:solidFill>
                      <a:prstDash val="solid"/>
                    </a:lnR>
                    <a:lnB w="9525">
                      <a:solidFill>
                        <a:srgbClr val="D7E3E2"/>
                      </a:solidFill>
                      <a:prstDash val="solid"/>
                    </a:lnB>
                    <a:solidFill>
                      <a:srgbClr val="F2F7F6"/>
                    </a:solidFill>
                  </a:tcPr>
                </a:tc>
              </a:tr>
            </a:tbl>
          </a:graphicData>
        </a:graphic>
      </p:graphicFrame>
      <p:sp>
        <p:nvSpPr>
          <p:cNvPr id="5" name="">
            <a:extLst xmlns:a="http://schemas.openxmlformats.org/drawingml/2006/main">
              <a:ext uri="{FF2B5EF4-FFF2-40B4-BE49-F238E27FC236}">
                <a16:creationId xmlns:a16="http://schemas.microsoft.com/office/drawing/2014/main" id="{2D06F6DB-15D7-46D6-B6CA-7503520C64A7}"/>
              </a:ext>
            </a:extLst>
          </p:cNvPr>
          <p:cNvSpPr>
            <a:spLocks xmlns:a="http://schemas.openxmlformats.org/drawingml/2006/main" noGrp="1"/>
          </p:cNvSpPr>
          <p:nvPr/>
        </p:nvSpPr>
        <p:spPr>
          <a:xfrm xmlns:a="http://schemas.openxmlformats.org/drawingml/2006/main">
            <a:off x="609600" y="49149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163139"/>
                </a:solidFill>
                <a:latin typeface="Arial"/>
                <a:ea typeface="Arial"/>
                <a:cs typeface="Arial"/>
              </a:defRPr>
            </a:defPPr>
            <a:lvl1pPr algn="l">
              <a:defRPr sz="1950" b="1">
                <a:solidFill>
                  <a:srgbClr val="163139"/>
                </a:solidFill>
                <a:latin typeface="Arial"/>
                <a:ea typeface="Arial"/>
                <a:cs typeface="Arial"/>
              </a:defRPr>
            </a:lvl1pPr>
            <a:lvl2pPr algn="l">
              <a:defRPr sz="1950" b="1">
                <a:solidFill>
                  <a:srgbClr val="163139"/>
                </a:solidFill>
                <a:latin typeface="Arial"/>
                <a:ea typeface="Arial"/>
                <a:cs typeface="Arial"/>
              </a:defRPr>
            </a:lvl2pPr>
            <a:lvl3pPr algn="l">
              <a:defRPr sz="1950" b="1">
                <a:solidFill>
                  <a:srgbClr val="163139"/>
                </a:solidFill>
                <a:latin typeface="Arial"/>
                <a:ea typeface="Arial"/>
                <a:cs typeface="Arial"/>
              </a:defRPr>
            </a:lvl3pPr>
            <a:lvl4pPr algn="l">
              <a:defRPr sz="1950" b="1">
                <a:solidFill>
                  <a:srgbClr val="163139"/>
                </a:solidFill>
                <a:latin typeface="Arial"/>
                <a:ea typeface="Arial"/>
                <a:cs typeface="Arial"/>
              </a:defRPr>
            </a:lvl4pPr>
            <a:lvl5pPr algn="l">
              <a:defRPr sz="1950" b="1">
                <a:solidFill>
                  <a:srgbClr val="163139"/>
                </a:solidFill>
                <a:latin typeface="Arial"/>
                <a:ea typeface="Arial"/>
                <a:cs typeface="Arial"/>
              </a:defRPr>
            </a:lvl5pPr>
            <a:lvl6pPr algn="l">
              <a:defRPr sz="1950" b="1">
                <a:solidFill>
                  <a:srgbClr val="163139"/>
                </a:solidFill>
                <a:latin typeface="Arial"/>
                <a:ea typeface="Arial"/>
                <a:cs typeface="Arial"/>
              </a:defRPr>
            </a:lvl6pPr>
            <a:lvl7pPr algn="l">
              <a:defRPr sz="1950" b="1">
                <a:solidFill>
                  <a:srgbClr val="163139"/>
                </a:solidFill>
                <a:latin typeface="Arial"/>
                <a:ea typeface="Arial"/>
                <a:cs typeface="Arial"/>
              </a:defRPr>
            </a:lvl7pPr>
            <a:lvl8pPr algn="l">
              <a:defRPr sz="1950" b="1">
                <a:solidFill>
                  <a:srgbClr val="163139"/>
                </a:solidFill>
                <a:latin typeface="Arial"/>
                <a:ea typeface="Arial"/>
                <a:cs typeface="Arial"/>
              </a:defRPr>
            </a:lvl8pPr>
            <a:lvl9pPr algn="l">
              <a:defRPr sz="1950" b="1">
                <a:solidFill>
                  <a:srgbClr val="163139"/>
                </a:solidFill>
                <a:latin typeface="Arial"/>
                <a:ea typeface="Arial"/>
                <a:cs typeface="Arial"/>
              </a:defRPr>
            </a:lvl9pPr>
          </a:lstStyle>
          <a:p xmlns:a="http://schemas.openxmlformats.org/drawingml/2006/main">
            <a:pPr algn="l">
              <a:defRPr sz="1950" b="1">
                <a:solidFill>
                  <a:srgbClr val="163139"/>
                </a:solidFill>
                <a:latin typeface="Arial"/>
                <a:ea typeface="Arial"/>
                <a:cs typeface="Arial"/>
              </a:defRPr>
            </a:pPr>
            <a:r>
              <a:rPr sz="1950" b="1">
                <a:solidFill>
                  <a:srgbClr val="163139"/>
                </a:solidFill>
                <a:latin typeface="Arial"/>
                <a:ea typeface="Arial"/>
                <a:cs typeface="Arial"/>
              </a:rPr>
              <a:t>75 evaluations completed; all three encoder caches and raw predictions saved</a:t>
            </a:r>
          </a:p>
        </p:txBody>
      </p:sp>
      <p:sp>
        <p:nvSpPr>
          <p:cNvPr id="6" name="">
            <a:extLst xmlns:a="http://schemas.openxmlformats.org/drawingml/2006/main">
              <a:ext uri="{FF2B5EF4-FFF2-40B4-BE49-F238E27FC236}">
                <a16:creationId xmlns:a16="http://schemas.microsoft.com/office/drawing/2014/main" id="{B893CE5C-1FE0-4DB8-B48C-4A2384601CEE}"/>
              </a:ext>
            </a:extLst>
          </p:cNvPr>
          <p:cNvSpPr>
            <a:spLocks xmlns:a="http://schemas.openxmlformats.org/drawingml/2006/main" noGrp="1"/>
          </p:cNvSpPr>
          <p:nvPr/>
        </p:nvSpPr>
        <p:spPr>
          <a:xfrm xmlns:a="http://schemas.openxmlformats.org/drawingml/2006/main">
            <a:off x="609600" y="5410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52666D"/>
                </a:solidFill>
                <a:latin typeface="Arial"/>
                <a:ea typeface="Arial"/>
                <a:cs typeface="Arial"/>
              </a:defRPr>
            </a:defPPr>
            <a:lvl1pPr algn="l">
              <a:defRPr sz="1725" b="0">
                <a:solidFill>
                  <a:srgbClr val="52666D"/>
                </a:solidFill>
                <a:latin typeface="Arial"/>
                <a:ea typeface="Arial"/>
                <a:cs typeface="Arial"/>
              </a:defRPr>
            </a:lvl1pPr>
            <a:lvl2pPr algn="l">
              <a:defRPr sz="1725" b="0">
                <a:solidFill>
                  <a:srgbClr val="52666D"/>
                </a:solidFill>
                <a:latin typeface="Arial"/>
                <a:ea typeface="Arial"/>
                <a:cs typeface="Arial"/>
              </a:defRPr>
            </a:lvl2pPr>
            <a:lvl3pPr algn="l">
              <a:defRPr sz="1725" b="0">
                <a:solidFill>
                  <a:srgbClr val="52666D"/>
                </a:solidFill>
                <a:latin typeface="Arial"/>
                <a:ea typeface="Arial"/>
                <a:cs typeface="Arial"/>
              </a:defRPr>
            </a:lvl3pPr>
            <a:lvl4pPr algn="l">
              <a:defRPr sz="1725" b="0">
                <a:solidFill>
                  <a:srgbClr val="52666D"/>
                </a:solidFill>
                <a:latin typeface="Arial"/>
                <a:ea typeface="Arial"/>
                <a:cs typeface="Arial"/>
              </a:defRPr>
            </a:lvl4pPr>
            <a:lvl5pPr algn="l">
              <a:defRPr sz="1725" b="0">
                <a:solidFill>
                  <a:srgbClr val="52666D"/>
                </a:solidFill>
                <a:latin typeface="Arial"/>
                <a:ea typeface="Arial"/>
                <a:cs typeface="Arial"/>
              </a:defRPr>
            </a:lvl5pPr>
            <a:lvl6pPr algn="l">
              <a:defRPr sz="1725" b="0">
                <a:solidFill>
                  <a:srgbClr val="52666D"/>
                </a:solidFill>
                <a:latin typeface="Arial"/>
                <a:ea typeface="Arial"/>
                <a:cs typeface="Arial"/>
              </a:defRPr>
            </a:lvl6pPr>
            <a:lvl7pPr algn="l">
              <a:defRPr sz="1725" b="0">
                <a:solidFill>
                  <a:srgbClr val="52666D"/>
                </a:solidFill>
                <a:latin typeface="Arial"/>
                <a:ea typeface="Arial"/>
                <a:cs typeface="Arial"/>
              </a:defRPr>
            </a:lvl7pPr>
            <a:lvl8pPr algn="l">
              <a:defRPr sz="1725" b="0">
                <a:solidFill>
                  <a:srgbClr val="52666D"/>
                </a:solidFill>
                <a:latin typeface="Arial"/>
                <a:ea typeface="Arial"/>
                <a:cs typeface="Arial"/>
              </a:defRPr>
            </a:lvl8pPr>
            <a:lvl9pPr algn="l">
              <a:defRPr sz="1725" b="0">
                <a:solidFill>
                  <a:srgbClr val="52666D"/>
                </a:solidFill>
                <a:latin typeface="Arial"/>
                <a:ea typeface="Arial"/>
                <a:cs typeface="Arial"/>
              </a:defRPr>
            </a:lvl9pPr>
          </a:lstStyle>
          <a:p xmlns:a="http://schemas.openxmlformats.org/drawingml/2006/main">
            <a:pPr algn="l">
              <a:defRPr sz="1725" b="0">
                <a:solidFill>
                  <a:srgbClr val="52666D"/>
                </a:solidFill>
                <a:latin typeface="Arial"/>
                <a:ea typeface="Arial"/>
                <a:cs typeface="Arial"/>
              </a:defRPr>
            </a:pPr>
            <a:r>
              <a:rPr sz="1725" b="0">
                <a:solidFill>
                  <a:srgbClr val="52666D"/>
                </a:solidFill>
                <a:latin typeface="Arial"/>
                <a:ea typeface="Arial"/>
                <a:cs typeface="Arial"/>
              </a:rPr>
              <a:t>Mean ± sample SD across training subsets on one fixed test set</a:t>
            </a:r>
          </a:p>
        </p:txBody>
      </p:sp>
      <p:sp>
        <p:nvSpPr>
          <p:cNvPr id="7" name="">
            <a:extLst xmlns:a="http://schemas.openxmlformats.org/drawingml/2006/main">
              <a:ext uri="{FF2B5EF4-FFF2-40B4-BE49-F238E27FC236}">
                <a16:creationId xmlns:a16="http://schemas.microsoft.com/office/drawing/2014/main" id="{E0DA51DD-D0A3-4733-AA94-4504D628C3A9}"/>
              </a:ext>
            </a:extLst>
          </p:cNvPr>
          <p:cNvSpPr>
            <a:spLocks xmlns:a="http://schemas.openxmlformats.org/drawingml/2006/main" noGrp="1"/>
          </p:cNvSpPr>
          <p:nvPr/>
        </p:nvSpPr>
        <p:spPr>
          <a:xfrm xmlns:a="http://schemas.openxmlformats.org/drawingml/2006/main">
            <a:off x="609600" y="58197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52666D"/>
                </a:solidFill>
                <a:latin typeface="Arial"/>
                <a:ea typeface="Arial"/>
                <a:cs typeface="Arial"/>
              </a:defRPr>
            </a:defPPr>
            <a:lvl1pPr algn="l">
              <a:defRPr sz="1650" b="0">
                <a:solidFill>
                  <a:srgbClr val="52666D"/>
                </a:solidFill>
                <a:latin typeface="Arial"/>
                <a:ea typeface="Arial"/>
                <a:cs typeface="Arial"/>
              </a:defRPr>
            </a:lvl1pPr>
            <a:lvl2pPr algn="l">
              <a:defRPr sz="1650" b="0">
                <a:solidFill>
                  <a:srgbClr val="52666D"/>
                </a:solidFill>
                <a:latin typeface="Arial"/>
                <a:ea typeface="Arial"/>
                <a:cs typeface="Arial"/>
              </a:defRPr>
            </a:lvl2pPr>
            <a:lvl3pPr algn="l">
              <a:defRPr sz="1650" b="0">
                <a:solidFill>
                  <a:srgbClr val="52666D"/>
                </a:solidFill>
                <a:latin typeface="Arial"/>
                <a:ea typeface="Arial"/>
                <a:cs typeface="Arial"/>
              </a:defRPr>
            </a:lvl3pPr>
            <a:lvl4pPr algn="l">
              <a:defRPr sz="1650" b="0">
                <a:solidFill>
                  <a:srgbClr val="52666D"/>
                </a:solidFill>
                <a:latin typeface="Arial"/>
                <a:ea typeface="Arial"/>
                <a:cs typeface="Arial"/>
              </a:defRPr>
            </a:lvl4pPr>
            <a:lvl5pPr algn="l">
              <a:defRPr sz="1650" b="0">
                <a:solidFill>
                  <a:srgbClr val="52666D"/>
                </a:solidFill>
                <a:latin typeface="Arial"/>
                <a:ea typeface="Arial"/>
                <a:cs typeface="Arial"/>
              </a:defRPr>
            </a:lvl5pPr>
            <a:lvl6pPr algn="l">
              <a:defRPr sz="1650" b="0">
                <a:solidFill>
                  <a:srgbClr val="52666D"/>
                </a:solidFill>
                <a:latin typeface="Arial"/>
                <a:ea typeface="Arial"/>
                <a:cs typeface="Arial"/>
              </a:defRPr>
            </a:lvl6pPr>
            <a:lvl7pPr algn="l">
              <a:defRPr sz="1650" b="0">
                <a:solidFill>
                  <a:srgbClr val="52666D"/>
                </a:solidFill>
                <a:latin typeface="Arial"/>
                <a:ea typeface="Arial"/>
                <a:cs typeface="Arial"/>
              </a:defRPr>
            </a:lvl7pPr>
            <a:lvl8pPr algn="l">
              <a:defRPr sz="1650" b="0">
                <a:solidFill>
                  <a:srgbClr val="52666D"/>
                </a:solidFill>
                <a:latin typeface="Arial"/>
                <a:ea typeface="Arial"/>
                <a:cs typeface="Arial"/>
              </a:defRPr>
            </a:lvl8pPr>
            <a:lvl9pPr algn="l">
              <a:defRPr sz="1650" b="0">
                <a:solidFill>
                  <a:srgbClr val="52666D"/>
                </a:solidFill>
                <a:latin typeface="Arial"/>
                <a:ea typeface="Arial"/>
                <a:cs typeface="Arial"/>
              </a:defRPr>
            </a:lvl9pPr>
          </a:lstStyle>
          <a:p xmlns:a="http://schemas.openxmlformats.org/drawingml/2006/main">
            <a:pPr algn="l">
              <a:defRPr sz="1650" b="0">
                <a:solidFill>
                  <a:srgbClr val="52666D"/>
                </a:solidFill>
                <a:latin typeface="Arial"/>
                <a:ea typeface="Arial"/>
                <a:cs typeface="Arial"/>
              </a:defRPr>
            </a:pPr>
            <a:r>
              <a:rPr sz="1650" b="0">
                <a:solidFill>
                  <a:srgbClr val="52666D"/>
                </a:solidFill>
                <a:latin typeface="Arial"/>
                <a:ea typeface="Arial"/>
                <a:cs typeface="Arial"/>
              </a:rPr>
              <a:t>Full pool: 1,500 naturally imbalanced examples; different class mix from balanced budgets</a:t>
            </a:r>
          </a:p>
        </p:txBody>
      </p:sp>
    </p:spTree>
    <p:extLst>
      <p:ext uri="{BB962C8B-B14F-4D97-AF65-F5344CB8AC3E}">
        <p14:creationId xmlns:p14="http://schemas.microsoft.com/office/powerpoint/2010/main" val="11540369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B6D6DA-24F6-4228-A5F1-76BCA11AA7E2}"/>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300" b="1">
                <a:solidFill>
                  <a:srgbClr val="163139"/>
                </a:solidFill>
                <a:latin typeface="Arial"/>
                <a:ea typeface="Arial"/>
                <a:cs typeface="Arial"/>
              </a:defRPr>
            </a:defPPr>
            <a:lvl1pPr algn="l">
              <a:defRPr sz="3300" b="1">
                <a:solidFill>
                  <a:srgbClr val="163139"/>
                </a:solidFill>
                <a:latin typeface="Arial"/>
                <a:ea typeface="Arial"/>
                <a:cs typeface="Arial"/>
              </a:defRPr>
            </a:lvl1pPr>
            <a:lvl2pPr algn="l">
              <a:defRPr sz="3300" b="1">
                <a:solidFill>
                  <a:srgbClr val="163139"/>
                </a:solidFill>
                <a:latin typeface="Arial"/>
                <a:ea typeface="Arial"/>
                <a:cs typeface="Arial"/>
              </a:defRPr>
            </a:lvl2pPr>
            <a:lvl3pPr algn="l">
              <a:defRPr sz="3300" b="1">
                <a:solidFill>
                  <a:srgbClr val="163139"/>
                </a:solidFill>
                <a:latin typeface="Arial"/>
                <a:ea typeface="Arial"/>
                <a:cs typeface="Arial"/>
              </a:defRPr>
            </a:lvl3pPr>
            <a:lvl4pPr algn="l">
              <a:defRPr sz="3300" b="1">
                <a:solidFill>
                  <a:srgbClr val="163139"/>
                </a:solidFill>
                <a:latin typeface="Arial"/>
                <a:ea typeface="Arial"/>
                <a:cs typeface="Arial"/>
              </a:defRPr>
            </a:lvl4pPr>
            <a:lvl5pPr algn="l">
              <a:defRPr sz="3300" b="1">
                <a:solidFill>
                  <a:srgbClr val="163139"/>
                </a:solidFill>
                <a:latin typeface="Arial"/>
                <a:ea typeface="Arial"/>
                <a:cs typeface="Arial"/>
              </a:defRPr>
            </a:lvl5pPr>
            <a:lvl6pPr algn="l">
              <a:defRPr sz="3300" b="1">
                <a:solidFill>
                  <a:srgbClr val="163139"/>
                </a:solidFill>
                <a:latin typeface="Arial"/>
                <a:ea typeface="Arial"/>
                <a:cs typeface="Arial"/>
              </a:defRPr>
            </a:lvl6pPr>
            <a:lvl7pPr algn="l">
              <a:defRPr sz="3300" b="1">
                <a:solidFill>
                  <a:srgbClr val="163139"/>
                </a:solidFill>
                <a:latin typeface="Arial"/>
                <a:ea typeface="Arial"/>
                <a:cs typeface="Arial"/>
              </a:defRPr>
            </a:lvl7pPr>
            <a:lvl8pPr algn="l">
              <a:defRPr sz="3300" b="1">
                <a:solidFill>
                  <a:srgbClr val="163139"/>
                </a:solidFill>
                <a:latin typeface="Arial"/>
                <a:ea typeface="Arial"/>
                <a:cs typeface="Arial"/>
              </a:defRPr>
            </a:lvl8pPr>
            <a:lvl9pPr algn="l">
              <a:defRPr sz="3300" b="1">
                <a:solidFill>
                  <a:srgbClr val="163139"/>
                </a:solidFill>
                <a:latin typeface="Arial"/>
                <a:ea typeface="Arial"/>
                <a:cs typeface="Arial"/>
              </a:defRPr>
            </a:lvl9pPr>
          </a:lstStyle>
          <a:p xmlns:a="http://schemas.openxmlformats.org/drawingml/2006/main">
            <a:pPr algn="l">
              <a:defRPr sz="3300" b="1">
                <a:solidFill>
                  <a:srgbClr val="163139"/>
                </a:solidFill>
                <a:latin typeface="Arial"/>
                <a:ea typeface="Arial"/>
                <a:cs typeface="Arial"/>
              </a:defRPr>
            </a:pPr>
            <a:r>
              <a:rPr sz="3300" b="1">
                <a:solidFill>
                  <a:srgbClr val="163139"/>
                </a:solidFill>
                <a:latin typeface="Arial"/>
                <a:ea typeface="Arial"/>
                <a:cs typeface="Arial"/>
              </a:rPr>
              <a:t>Challenges and limits</a:t>
            </a:r>
          </a:p>
        </p:txBody>
      </p:sp>
      <p:sp>
        <p:nvSpPr>
          <p:cNvPr id="2" name="">
            <a:extLst xmlns:a="http://schemas.openxmlformats.org/drawingml/2006/main">
              <a:ext uri="{FF2B5EF4-FFF2-40B4-BE49-F238E27FC236}">
                <a16:creationId xmlns:a16="http://schemas.microsoft.com/office/drawing/2014/main" id="{DEF44DB9-56C7-4646-81DB-D8A48DEE10D0}"/>
              </a:ext>
            </a:extLst>
          </p:cNvPr>
          <p:cNvSpPr>
            <a:spLocks xmlns:a="http://schemas.openxmlformats.org/drawingml/2006/main" noGrp="1"/>
          </p:cNvSpPr>
          <p:nvPr/>
        </p:nvSpPr>
        <p:spPr>
          <a:xfrm xmlns:a="http://schemas.openxmlformats.org/drawingml/2006/main">
            <a:off x="10810875" y="640080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275" b="0">
                <a:solidFill>
                  <a:srgbClr val="52666D"/>
                </a:solidFill>
                <a:latin typeface="Arial"/>
                <a:ea typeface="Arial"/>
                <a:cs typeface="Arial"/>
              </a:defRPr>
            </a:defPPr>
            <a:lvl1pPr algn="r">
              <a:defRPr sz="1275" b="0">
                <a:solidFill>
                  <a:srgbClr val="52666D"/>
                </a:solidFill>
                <a:latin typeface="Arial"/>
                <a:ea typeface="Arial"/>
                <a:cs typeface="Arial"/>
              </a:defRPr>
            </a:lvl1pPr>
            <a:lvl2pPr algn="r">
              <a:defRPr sz="1275" b="0">
                <a:solidFill>
                  <a:srgbClr val="52666D"/>
                </a:solidFill>
                <a:latin typeface="Arial"/>
                <a:ea typeface="Arial"/>
                <a:cs typeface="Arial"/>
              </a:defRPr>
            </a:lvl2pPr>
            <a:lvl3pPr algn="r">
              <a:defRPr sz="1275" b="0">
                <a:solidFill>
                  <a:srgbClr val="52666D"/>
                </a:solidFill>
                <a:latin typeface="Arial"/>
                <a:ea typeface="Arial"/>
                <a:cs typeface="Arial"/>
              </a:defRPr>
            </a:lvl3pPr>
            <a:lvl4pPr algn="r">
              <a:defRPr sz="1275" b="0">
                <a:solidFill>
                  <a:srgbClr val="52666D"/>
                </a:solidFill>
                <a:latin typeface="Arial"/>
                <a:ea typeface="Arial"/>
                <a:cs typeface="Arial"/>
              </a:defRPr>
            </a:lvl4pPr>
            <a:lvl5pPr algn="r">
              <a:defRPr sz="1275" b="0">
                <a:solidFill>
                  <a:srgbClr val="52666D"/>
                </a:solidFill>
                <a:latin typeface="Arial"/>
                <a:ea typeface="Arial"/>
                <a:cs typeface="Arial"/>
              </a:defRPr>
            </a:lvl5pPr>
            <a:lvl6pPr algn="r">
              <a:defRPr sz="1275" b="0">
                <a:solidFill>
                  <a:srgbClr val="52666D"/>
                </a:solidFill>
                <a:latin typeface="Arial"/>
                <a:ea typeface="Arial"/>
                <a:cs typeface="Arial"/>
              </a:defRPr>
            </a:lvl6pPr>
            <a:lvl7pPr algn="r">
              <a:defRPr sz="1275" b="0">
                <a:solidFill>
                  <a:srgbClr val="52666D"/>
                </a:solidFill>
                <a:latin typeface="Arial"/>
                <a:ea typeface="Arial"/>
                <a:cs typeface="Arial"/>
              </a:defRPr>
            </a:lvl7pPr>
            <a:lvl8pPr algn="r">
              <a:defRPr sz="1275" b="0">
                <a:solidFill>
                  <a:srgbClr val="52666D"/>
                </a:solidFill>
                <a:latin typeface="Arial"/>
                <a:ea typeface="Arial"/>
                <a:cs typeface="Arial"/>
              </a:defRPr>
            </a:lvl8pPr>
            <a:lvl9pPr algn="r">
              <a:defRPr sz="1275" b="0">
                <a:solidFill>
                  <a:srgbClr val="52666D"/>
                </a:solidFill>
                <a:latin typeface="Arial"/>
                <a:ea typeface="Arial"/>
                <a:cs typeface="Arial"/>
              </a:defRPr>
            </a:lvl9pPr>
          </a:lstStyle>
          <a:p xmlns:a="http://schemas.openxmlformats.org/drawingml/2006/main">
            <a:pPr algn="r">
              <a:defRPr sz="1275" b="0">
                <a:solidFill>
                  <a:srgbClr val="52666D"/>
                </a:solidFill>
                <a:latin typeface="Arial"/>
                <a:ea typeface="Arial"/>
                <a:cs typeface="Arial"/>
              </a:defRPr>
            </a:pPr>
            <a:r>
              <a:rPr sz="1275" b="0">
                <a:solidFill>
                  <a:srgbClr val="52666D"/>
                </a:solidFill>
                <a:latin typeface="Arial"/>
                <a:ea typeface="Arial"/>
                <a:cs typeface="Arial"/>
              </a:rPr>
              <a:t>5 / 6</a:t>
            </a:r>
          </a:p>
        </p:txBody>
      </p:sp>
      <p:sp>
        <p:nvSpPr>
          <p:cNvPr id="3" name="">
            <a:extLst xmlns:a="http://schemas.openxmlformats.org/drawingml/2006/main">
              <a:ext uri="{FF2B5EF4-FFF2-40B4-BE49-F238E27FC236}">
                <a16:creationId xmlns:a16="http://schemas.microsoft.com/office/drawing/2014/main" id="{51FC3EE5-993C-4474-89A8-51F2166FC914}"/>
              </a:ext>
            </a:extLst>
          </p:cNvPr>
          <p:cNvSpPr>
            <a:spLocks xmlns:a="http://schemas.openxmlformats.org/drawingml/2006/main" noGrp="1"/>
          </p:cNvSpPr>
          <p:nvPr/>
        </p:nvSpPr>
        <p:spPr>
          <a:xfrm xmlns:a="http://schemas.openxmlformats.org/drawingml/2006/main">
            <a:off x="609600" y="15144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087E75"/>
                </a:solidFill>
                <a:latin typeface="Arial"/>
                <a:ea typeface="Arial"/>
                <a:cs typeface="Arial"/>
              </a:defRPr>
            </a:defPPr>
            <a:lvl1pPr algn="l">
              <a:defRPr sz="2175" b="1">
                <a:solidFill>
                  <a:srgbClr val="087E75"/>
                </a:solidFill>
                <a:latin typeface="Arial"/>
                <a:ea typeface="Arial"/>
                <a:cs typeface="Arial"/>
              </a:defRPr>
            </a:lvl1pPr>
            <a:lvl2pPr algn="l">
              <a:defRPr sz="2175" b="1">
                <a:solidFill>
                  <a:srgbClr val="087E75"/>
                </a:solidFill>
                <a:latin typeface="Arial"/>
                <a:ea typeface="Arial"/>
                <a:cs typeface="Arial"/>
              </a:defRPr>
            </a:lvl2pPr>
            <a:lvl3pPr algn="l">
              <a:defRPr sz="2175" b="1">
                <a:solidFill>
                  <a:srgbClr val="087E75"/>
                </a:solidFill>
                <a:latin typeface="Arial"/>
                <a:ea typeface="Arial"/>
                <a:cs typeface="Arial"/>
              </a:defRPr>
            </a:lvl3pPr>
            <a:lvl4pPr algn="l">
              <a:defRPr sz="2175" b="1">
                <a:solidFill>
                  <a:srgbClr val="087E75"/>
                </a:solidFill>
                <a:latin typeface="Arial"/>
                <a:ea typeface="Arial"/>
                <a:cs typeface="Arial"/>
              </a:defRPr>
            </a:lvl4pPr>
            <a:lvl5pPr algn="l">
              <a:defRPr sz="2175" b="1">
                <a:solidFill>
                  <a:srgbClr val="087E75"/>
                </a:solidFill>
                <a:latin typeface="Arial"/>
                <a:ea typeface="Arial"/>
                <a:cs typeface="Arial"/>
              </a:defRPr>
            </a:lvl5pPr>
            <a:lvl6pPr algn="l">
              <a:defRPr sz="2175" b="1">
                <a:solidFill>
                  <a:srgbClr val="087E75"/>
                </a:solidFill>
                <a:latin typeface="Arial"/>
                <a:ea typeface="Arial"/>
                <a:cs typeface="Arial"/>
              </a:defRPr>
            </a:lvl6pPr>
            <a:lvl7pPr algn="l">
              <a:defRPr sz="2175" b="1">
                <a:solidFill>
                  <a:srgbClr val="087E75"/>
                </a:solidFill>
                <a:latin typeface="Arial"/>
                <a:ea typeface="Arial"/>
                <a:cs typeface="Arial"/>
              </a:defRPr>
            </a:lvl7pPr>
            <a:lvl8pPr algn="l">
              <a:defRPr sz="2175" b="1">
                <a:solidFill>
                  <a:srgbClr val="087E75"/>
                </a:solidFill>
                <a:latin typeface="Arial"/>
                <a:ea typeface="Arial"/>
                <a:cs typeface="Arial"/>
              </a:defRPr>
            </a:lvl8pPr>
            <a:lvl9pPr algn="l">
              <a:defRPr sz="2175" b="1">
                <a:solidFill>
                  <a:srgbClr val="087E75"/>
                </a:solidFill>
                <a:latin typeface="Arial"/>
                <a:ea typeface="Arial"/>
                <a:cs typeface="Arial"/>
              </a:defRPr>
            </a:lvl9pPr>
          </a:lstStyle>
          <a:p xmlns:a="http://schemas.openxmlformats.org/drawingml/2006/main">
            <a:pPr algn="l">
              <a:defRPr sz="2175" b="1">
                <a:solidFill>
                  <a:srgbClr val="087E75"/>
                </a:solidFill>
                <a:latin typeface="Arial"/>
                <a:ea typeface="Arial"/>
                <a:cs typeface="Arial"/>
              </a:defRPr>
            </a:pPr>
            <a:r>
              <a:rPr sz="2175" b="1">
                <a:solidFill>
                  <a:srgbClr val="087E75"/>
                </a:solidFill>
                <a:latin typeface="Arial"/>
                <a:ea typeface="Arial"/>
                <a:cs typeface="Arial"/>
              </a:rPr>
              <a:t>Cue words and scope</a:t>
            </a:r>
          </a:p>
        </p:txBody>
      </p:sp>
      <p:sp>
        <p:nvSpPr>
          <p:cNvPr id="4" name="">
            <a:extLst xmlns:a="http://schemas.openxmlformats.org/drawingml/2006/main">
              <a:ext uri="{FF2B5EF4-FFF2-40B4-BE49-F238E27FC236}">
                <a16:creationId xmlns:a16="http://schemas.microsoft.com/office/drawing/2014/main" id="{70D2EE2A-0AE1-4DBC-86DB-F3B246E56AB0}"/>
              </a:ext>
            </a:extLst>
          </p:cNvPr>
          <p:cNvSpPr>
            <a:spLocks xmlns:a="http://schemas.openxmlformats.org/drawingml/2006/main" noGrp="1"/>
          </p:cNvSpPr>
          <p:nvPr/>
        </p:nvSpPr>
        <p:spPr>
          <a:xfrm xmlns:a="http://schemas.openxmlformats.org/drawingml/2006/main">
            <a:off x="609600" y="19716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63139"/>
                </a:solidFill>
                <a:latin typeface="Arial"/>
                <a:ea typeface="Arial"/>
                <a:cs typeface="Arial"/>
              </a:defRPr>
            </a:defPPr>
            <a:lvl1pPr algn="l">
              <a:defRPr sz="1950" b="0">
                <a:solidFill>
                  <a:srgbClr val="163139"/>
                </a:solidFill>
                <a:latin typeface="Arial"/>
                <a:ea typeface="Arial"/>
                <a:cs typeface="Arial"/>
              </a:defRPr>
            </a:lvl1pPr>
            <a:lvl2pPr algn="l">
              <a:defRPr sz="1950" b="0">
                <a:solidFill>
                  <a:srgbClr val="163139"/>
                </a:solidFill>
                <a:latin typeface="Arial"/>
                <a:ea typeface="Arial"/>
                <a:cs typeface="Arial"/>
              </a:defRPr>
            </a:lvl2pPr>
            <a:lvl3pPr algn="l">
              <a:defRPr sz="1950" b="0">
                <a:solidFill>
                  <a:srgbClr val="163139"/>
                </a:solidFill>
                <a:latin typeface="Arial"/>
                <a:ea typeface="Arial"/>
                <a:cs typeface="Arial"/>
              </a:defRPr>
            </a:lvl3pPr>
            <a:lvl4pPr algn="l">
              <a:defRPr sz="1950" b="0">
                <a:solidFill>
                  <a:srgbClr val="163139"/>
                </a:solidFill>
                <a:latin typeface="Arial"/>
                <a:ea typeface="Arial"/>
                <a:cs typeface="Arial"/>
              </a:defRPr>
            </a:lvl4pPr>
            <a:lvl5pPr algn="l">
              <a:defRPr sz="1950" b="0">
                <a:solidFill>
                  <a:srgbClr val="163139"/>
                </a:solidFill>
                <a:latin typeface="Arial"/>
                <a:ea typeface="Arial"/>
                <a:cs typeface="Arial"/>
              </a:defRPr>
            </a:lvl5pPr>
            <a:lvl6pPr algn="l">
              <a:defRPr sz="1950" b="0">
                <a:solidFill>
                  <a:srgbClr val="163139"/>
                </a:solidFill>
                <a:latin typeface="Arial"/>
                <a:ea typeface="Arial"/>
                <a:cs typeface="Arial"/>
              </a:defRPr>
            </a:lvl6pPr>
            <a:lvl7pPr algn="l">
              <a:defRPr sz="1950" b="0">
                <a:solidFill>
                  <a:srgbClr val="163139"/>
                </a:solidFill>
                <a:latin typeface="Arial"/>
                <a:ea typeface="Arial"/>
                <a:cs typeface="Arial"/>
              </a:defRPr>
            </a:lvl7pPr>
            <a:lvl8pPr algn="l">
              <a:defRPr sz="1950" b="0">
                <a:solidFill>
                  <a:srgbClr val="163139"/>
                </a:solidFill>
                <a:latin typeface="Arial"/>
                <a:ea typeface="Arial"/>
                <a:cs typeface="Arial"/>
              </a:defRPr>
            </a:lvl8pPr>
            <a:lvl9pPr algn="l">
              <a:defRPr sz="1950" b="0">
                <a:solidFill>
                  <a:srgbClr val="163139"/>
                </a:solidFill>
                <a:latin typeface="Arial"/>
                <a:ea typeface="Arial"/>
                <a:cs typeface="Arial"/>
              </a:defRPr>
            </a:lvl9pPr>
          </a:lstStyle>
          <a:p xmlns:a="http://schemas.openxmlformats.org/drawingml/2006/main">
            <a:pPr algn="l">
              <a:defRPr sz="1950" b="0">
                <a:solidFill>
                  <a:srgbClr val="163139"/>
                </a:solidFill>
                <a:latin typeface="Arial"/>
                <a:ea typeface="Arial"/>
                <a:cs typeface="Arial"/>
              </a:defRPr>
            </a:pPr>
            <a:r>
              <a:rPr sz="1950" b="0">
                <a:solidFill>
                  <a:srgbClr val="163139"/>
                </a:solidFill>
                <a:latin typeface="Arial"/>
                <a:ea typeface="Arial"/>
                <a:cs typeface="Arial"/>
              </a:rPr>
              <a:t>Sentence labels cannot establish the status of a particular disease.</a:t>
            </a:r>
          </a:p>
        </p:txBody>
      </p:sp>
      <p:sp>
        <p:nvSpPr>
          <p:cNvPr id="5" name="">
            <a:extLst xmlns:a="http://schemas.openxmlformats.org/drawingml/2006/main">
              <a:ext uri="{FF2B5EF4-FFF2-40B4-BE49-F238E27FC236}">
                <a16:creationId xmlns:a16="http://schemas.microsoft.com/office/drawing/2014/main" id="{85008B24-E041-4F3A-8364-9A7AF1C37A23}"/>
              </a:ext>
            </a:extLst>
          </p:cNvPr>
          <p:cNvSpPr>
            <a:spLocks xmlns:a="http://schemas.openxmlformats.org/drawingml/2006/main" noGrp="1"/>
          </p:cNvSpPr>
          <p:nvPr/>
        </p:nvSpPr>
        <p:spPr>
          <a:xfrm xmlns:a="http://schemas.openxmlformats.org/drawingml/2006/main">
            <a:off x="609600" y="26574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087E75"/>
                </a:solidFill>
                <a:latin typeface="Arial"/>
                <a:ea typeface="Arial"/>
                <a:cs typeface="Arial"/>
              </a:defRPr>
            </a:defPPr>
            <a:lvl1pPr algn="l">
              <a:defRPr sz="2175" b="1">
                <a:solidFill>
                  <a:srgbClr val="087E75"/>
                </a:solidFill>
                <a:latin typeface="Arial"/>
                <a:ea typeface="Arial"/>
                <a:cs typeface="Arial"/>
              </a:defRPr>
            </a:lvl1pPr>
            <a:lvl2pPr algn="l">
              <a:defRPr sz="2175" b="1">
                <a:solidFill>
                  <a:srgbClr val="087E75"/>
                </a:solidFill>
                <a:latin typeface="Arial"/>
                <a:ea typeface="Arial"/>
                <a:cs typeface="Arial"/>
              </a:defRPr>
            </a:lvl2pPr>
            <a:lvl3pPr algn="l">
              <a:defRPr sz="2175" b="1">
                <a:solidFill>
                  <a:srgbClr val="087E75"/>
                </a:solidFill>
                <a:latin typeface="Arial"/>
                <a:ea typeface="Arial"/>
                <a:cs typeface="Arial"/>
              </a:defRPr>
            </a:lvl3pPr>
            <a:lvl4pPr algn="l">
              <a:defRPr sz="2175" b="1">
                <a:solidFill>
                  <a:srgbClr val="087E75"/>
                </a:solidFill>
                <a:latin typeface="Arial"/>
                <a:ea typeface="Arial"/>
                <a:cs typeface="Arial"/>
              </a:defRPr>
            </a:lvl4pPr>
            <a:lvl5pPr algn="l">
              <a:defRPr sz="2175" b="1">
                <a:solidFill>
                  <a:srgbClr val="087E75"/>
                </a:solidFill>
                <a:latin typeface="Arial"/>
                <a:ea typeface="Arial"/>
                <a:cs typeface="Arial"/>
              </a:defRPr>
            </a:lvl5pPr>
            <a:lvl6pPr algn="l">
              <a:defRPr sz="2175" b="1">
                <a:solidFill>
                  <a:srgbClr val="087E75"/>
                </a:solidFill>
                <a:latin typeface="Arial"/>
                <a:ea typeface="Arial"/>
                <a:cs typeface="Arial"/>
              </a:defRPr>
            </a:lvl6pPr>
            <a:lvl7pPr algn="l">
              <a:defRPr sz="2175" b="1">
                <a:solidFill>
                  <a:srgbClr val="087E75"/>
                </a:solidFill>
                <a:latin typeface="Arial"/>
                <a:ea typeface="Arial"/>
                <a:cs typeface="Arial"/>
              </a:defRPr>
            </a:lvl7pPr>
            <a:lvl8pPr algn="l">
              <a:defRPr sz="2175" b="1">
                <a:solidFill>
                  <a:srgbClr val="087E75"/>
                </a:solidFill>
                <a:latin typeface="Arial"/>
                <a:ea typeface="Arial"/>
                <a:cs typeface="Arial"/>
              </a:defRPr>
            </a:lvl8pPr>
            <a:lvl9pPr algn="l">
              <a:defRPr sz="2175" b="1">
                <a:solidFill>
                  <a:srgbClr val="087E75"/>
                </a:solidFill>
                <a:latin typeface="Arial"/>
                <a:ea typeface="Arial"/>
                <a:cs typeface="Arial"/>
              </a:defRPr>
            </a:lvl9pPr>
          </a:lstStyle>
          <a:p xmlns:a="http://schemas.openxmlformats.org/drawingml/2006/main">
            <a:pPr algn="l">
              <a:defRPr sz="2175" b="1">
                <a:solidFill>
                  <a:srgbClr val="087E75"/>
                </a:solidFill>
                <a:latin typeface="Arial"/>
                <a:ea typeface="Arial"/>
                <a:cs typeface="Arial"/>
              </a:defRPr>
            </a:pPr>
            <a:r>
              <a:rPr sz="2175" b="1">
                <a:solidFill>
                  <a:srgbClr val="087E75"/>
                </a:solidFill>
                <a:latin typeface="Arial"/>
                <a:ea typeface="Arial"/>
                <a:cs typeface="Arial"/>
              </a:rPr>
              <a:t>Class imbalance</a:t>
            </a:r>
          </a:p>
        </p:txBody>
      </p:sp>
      <p:sp>
        <p:nvSpPr>
          <p:cNvPr id="6" name="">
            <a:extLst xmlns:a="http://schemas.openxmlformats.org/drawingml/2006/main">
              <a:ext uri="{FF2B5EF4-FFF2-40B4-BE49-F238E27FC236}">
                <a16:creationId xmlns:a16="http://schemas.microsoft.com/office/drawing/2014/main" id="{1A7C242E-D517-4A71-A326-CBCC642C96A0}"/>
              </a:ext>
            </a:extLst>
          </p:cNvPr>
          <p:cNvSpPr>
            <a:spLocks xmlns:a="http://schemas.openxmlformats.org/drawingml/2006/main" noGrp="1"/>
          </p:cNvSpPr>
          <p:nvPr/>
        </p:nvSpPr>
        <p:spPr>
          <a:xfrm xmlns:a="http://schemas.openxmlformats.org/drawingml/2006/main">
            <a:off x="609600" y="31146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63139"/>
                </a:solidFill>
                <a:latin typeface="Arial"/>
                <a:ea typeface="Arial"/>
                <a:cs typeface="Arial"/>
              </a:defRPr>
            </a:defPPr>
            <a:lvl1pPr algn="l">
              <a:defRPr sz="1950" b="0">
                <a:solidFill>
                  <a:srgbClr val="163139"/>
                </a:solidFill>
                <a:latin typeface="Arial"/>
                <a:ea typeface="Arial"/>
                <a:cs typeface="Arial"/>
              </a:defRPr>
            </a:lvl1pPr>
            <a:lvl2pPr algn="l">
              <a:defRPr sz="1950" b="0">
                <a:solidFill>
                  <a:srgbClr val="163139"/>
                </a:solidFill>
                <a:latin typeface="Arial"/>
                <a:ea typeface="Arial"/>
                <a:cs typeface="Arial"/>
              </a:defRPr>
            </a:lvl2pPr>
            <a:lvl3pPr algn="l">
              <a:defRPr sz="1950" b="0">
                <a:solidFill>
                  <a:srgbClr val="163139"/>
                </a:solidFill>
                <a:latin typeface="Arial"/>
                <a:ea typeface="Arial"/>
                <a:cs typeface="Arial"/>
              </a:defRPr>
            </a:lvl3pPr>
            <a:lvl4pPr algn="l">
              <a:defRPr sz="1950" b="0">
                <a:solidFill>
                  <a:srgbClr val="163139"/>
                </a:solidFill>
                <a:latin typeface="Arial"/>
                <a:ea typeface="Arial"/>
                <a:cs typeface="Arial"/>
              </a:defRPr>
            </a:lvl4pPr>
            <a:lvl5pPr algn="l">
              <a:defRPr sz="1950" b="0">
                <a:solidFill>
                  <a:srgbClr val="163139"/>
                </a:solidFill>
                <a:latin typeface="Arial"/>
                <a:ea typeface="Arial"/>
                <a:cs typeface="Arial"/>
              </a:defRPr>
            </a:lvl5pPr>
            <a:lvl6pPr algn="l">
              <a:defRPr sz="1950" b="0">
                <a:solidFill>
                  <a:srgbClr val="163139"/>
                </a:solidFill>
                <a:latin typeface="Arial"/>
                <a:ea typeface="Arial"/>
                <a:cs typeface="Arial"/>
              </a:defRPr>
            </a:lvl6pPr>
            <a:lvl7pPr algn="l">
              <a:defRPr sz="1950" b="0">
                <a:solidFill>
                  <a:srgbClr val="163139"/>
                </a:solidFill>
                <a:latin typeface="Arial"/>
                <a:ea typeface="Arial"/>
                <a:cs typeface="Arial"/>
              </a:defRPr>
            </a:lvl7pPr>
            <a:lvl8pPr algn="l">
              <a:defRPr sz="1950" b="0">
                <a:solidFill>
                  <a:srgbClr val="163139"/>
                </a:solidFill>
                <a:latin typeface="Arial"/>
                <a:ea typeface="Arial"/>
                <a:cs typeface="Arial"/>
              </a:defRPr>
            </a:lvl8pPr>
            <a:lvl9pPr algn="l">
              <a:defRPr sz="1950" b="0">
                <a:solidFill>
                  <a:srgbClr val="163139"/>
                </a:solidFill>
                <a:latin typeface="Arial"/>
                <a:ea typeface="Arial"/>
                <a:cs typeface="Arial"/>
              </a:defRPr>
            </a:lvl9pPr>
          </a:lstStyle>
          <a:p xmlns:a="http://schemas.openxmlformats.org/drawingml/2006/main">
            <a:pPr algn="l">
              <a:defRPr sz="1950" b="0">
                <a:solidFill>
                  <a:srgbClr val="163139"/>
                </a:solidFill>
                <a:latin typeface="Arial"/>
                <a:ea typeface="Arial"/>
                <a:cs typeface="Arial"/>
              </a:defRPr>
            </a:pPr>
            <a:r>
              <a:rPr sz="1950" b="0">
                <a:solidFill>
                  <a:srgbClr val="163139"/>
                </a:solidFill>
                <a:latin typeface="Arial"/>
                <a:ea typeface="Arial"/>
                <a:cs typeface="Arial"/>
              </a:rPr>
              <a:t>439 of 600 test sentences have no cue. Macro-F1 keeps minority classes visible.</a:t>
            </a:r>
          </a:p>
        </p:txBody>
      </p:sp>
      <p:sp>
        <p:nvSpPr>
          <p:cNvPr id="7" name="">
            <a:extLst xmlns:a="http://schemas.openxmlformats.org/drawingml/2006/main">
              <a:ext uri="{FF2B5EF4-FFF2-40B4-BE49-F238E27FC236}">
                <a16:creationId xmlns:a16="http://schemas.microsoft.com/office/drawing/2014/main" id="{A87A1DCD-883D-43A8-B09D-58DF873FFF5F}"/>
              </a:ext>
            </a:extLst>
          </p:cNvPr>
          <p:cNvSpPr>
            <a:spLocks xmlns:a="http://schemas.openxmlformats.org/drawingml/2006/main" noGrp="1"/>
          </p:cNvSpPr>
          <p:nvPr/>
        </p:nvSpPr>
        <p:spPr>
          <a:xfrm xmlns:a="http://schemas.openxmlformats.org/drawingml/2006/main">
            <a:off x="609600" y="38004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087E75"/>
                </a:solidFill>
                <a:latin typeface="Arial"/>
                <a:ea typeface="Arial"/>
                <a:cs typeface="Arial"/>
              </a:defRPr>
            </a:defPPr>
            <a:lvl1pPr algn="l">
              <a:defRPr sz="2175" b="1">
                <a:solidFill>
                  <a:srgbClr val="087E75"/>
                </a:solidFill>
                <a:latin typeface="Arial"/>
                <a:ea typeface="Arial"/>
                <a:cs typeface="Arial"/>
              </a:defRPr>
            </a:lvl1pPr>
            <a:lvl2pPr algn="l">
              <a:defRPr sz="2175" b="1">
                <a:solidFill>
                  <a:srgbClr val="087E75"/>
                </a:solidFill>
                <a:latin typeface="Arial"/>
                <a:ea typeface="Arial"/>
                <a:cs typeface="Arial"/>
              </a:defRPr>
            </a:lvl2pPr>
            <a:lvl3pPr algn="l">
              <a:defRPr sz="2175" b="1">
                <a:solidFill>
                  <a:srgbClr val="087E75"/>
                </a:solidFill>
                <a:latin typeface="Arial"/>
                <a:ea typeface="Arial"/>
                <a:cs typeface="Arial"/>
              </a:defRPr>
            </a:lvl3pPr>
            <a:lvl4pPr algn="l">
              <a:defRPr sz="2175" b="1">
                <a:solidFill>
                  <a:srgbClr val="087E75"/>
                </a:solidFill>
                <a:latin typeface="Arial"/>
                <a:ea typeface="Arial"/>
                <a:cs typeface="Arial"/>
              </a:defRPr>
            </a:lvl4pPr>
            <a:lvl5pPr algn="l">
              <a:defRPr sz="2175" b="1">
                <a:solidFill>
                  <a:srgbClr val="087E75"/>
                </a:solidFill>
                <a:latin typeface="Arial"/>
                <a:ea typeface="Arial"/>
                <a:cs typeface="Arial"/>
              </a:defRPr>
            </a:lvl5pPr>
            <a:lvl6pPr algn="l">
              <a:defRPr sz="2175" b="1">
                <a:solidFill>
                  <a:srgbClr val="087E75"/>
                </a:solidFill>
                <a:latin typeface="Arial"/>
                <a:ea typeface="Arial"/>
                <a:cs typeface="Arial"/>
              </a:defRPr>
            </a:lvl6pPr>
            <a:lvl7pPr algn="l">
              <a:defRPr sz="2175" b="1">
                <a:solidFill>
                  <a:srgbClr val="087E75"/>
                </a:solidFill>
                <a:latin typeface="Arial"/>
                <a:ea typeface="Arial"/>
                <a:cs typeface="Arial"/>
              </a:defRPr>
            </a:lvl7pPr>
            <a:lvl8pPr algn="l">
              <a:defRPr sz="2175" b="1">
                <a:solidFill>
                  <a:srgbClr val="087E75"/>
                </a:solidFill>
                <a:latin typeface="Arial"/>
                <a:ea typeface="Arial"/>
                <a:cs typeface="Arial"/>
              </a:defRPr>
            </a:lvl8pPr>
            <a:lvl9pPr algn="l">
              <a:defRPr sz="2175" b="1">
                <a:solidFill>
                  <a:srgbClr val="087E75"/>
                </a:solidFill>
                <a:latin typeface="Arial"/>
                <a:ea typeface="Arial"/>
                <a:cs typeface="Arial"/>
              </a:defRPr>
            </a:lvl9pPr>
          </a:lstStyle>
          <a:p xmlns:a="http://schemas.openxmlformats.org/drawingml/2006/main">
            <a:pPr algn="l">
              <a:defRPr sz="2175" b="1">
                <a:solidFill>
                  <a:srgbClr val="087E75"/>
                </a:solidFill>
                <a:latin typeface="Arial"/>
                <a:ea typeface="Arial"/>
                <a:cs typeface="Arial"/>
              </a:defRPr>
            </a:pPr>
            <a:r>
              <a:rPr sz="2175" b="1">
                <a:solidFill>
                  <a:srgbClr val="087E75"/>
                </a:solidFill>
                <a:latin typeface="Arial"/>
                <a:ea typeface="Arial"/>
                <a:cs typeface="Arial"/>
              </a:rPr>
              <a:t>Label budget and uncertainty</a:t>
            </a:r>
          </a:p>
        </p:txBody>
      </p:sp>
      <p:sp>
        <p:nvSpPr>
          <p:cNvPr id="8" name="">
            <a:extLst xmlns:a="http://schemas.openxmlformats.org/drawingml/2006/main">
              <a:ext uri="{FF2B5EF4-FFF2-40B4-BE49-F238E27FC236}">
                <a16:creationId xmlns:a16="http://schemas.microsoft.com/office/drawing/2014/main" id="{67ADA519-2053-43E3-B839-20B7BD0CA7C8}"/>
              </a:ext>
            </a:extLst>
          </p:cNvPr>
          <p:cNvSpPr>
            <a:spLocks xmlns:a="http://schemas.openxmlformats.org/drawingml/2006/main" noGrp="1"/>
          </p:cNvSpPr>
          <p:nvPr/>
        </p:nvSpPr>
        <p:spPr>
          <a:xfrm xmlns:a="http://schemas.openxmlformats.org/drawingml/2006/main">
            <a:off x="609600" y="42576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63139"/>
                </a:solidFill>
                <a:latin typeface="Arial"/>
                <a:ea typeface="Arial"/>
                <a:cs typeface="Arial"/>
              </a:defRPr>
            </a:defPPr>
            <a:lvl1pPr algn="l">
              <a:defRPr sz="1950" b="0">
                <a:solidFill>
                  <a:srgbClr val="163139"/>
                </a:solidFill>
                <a:latin typeface="Arial"/>
                <a:ea typeface="Arial"/>
                <a:cs typeface="Arial"/>
              </a:defRPr>
            </a:lvl1pPr>
            <a:lvl2pPr algn="l">
              <a:defRPr sz="1950" b="0">
                <a:solidFill>
                  <a:srgbClr val="163139"/>
                </a:solidFill>
                <a:latin typeface="Arial"/>
                <a:ea typeface="Arial"/>
                <a:cs typeface="Arial"/>
              </a:defRPr>
            </a:lvl2pPr>
            <a:lvl3pPr algn="l">
              <a:defRPr sz="1950" b="0">
                <a:solidFill>
                  <a:srgbClr val="163139"/>
                </a:solidFill>
                <a:latin typeface="Arial"/>
                <a:ea typeface="Arial"/>
                <a:cs typeface="Arial"/>
              </a:defRPr>
            </a:lvl3pPr>
            <a:lvl4pPr algn="l">
              <a:defRPr sz="1950" b="0">
                <a:solidFill>
                  <a:srgbClr val="163139"/>
                </a:solidFill>
                <a:latin typeface="Arial"/>
                <a:ea typeface="Arial"/>
                <a:cs typeface="Arial"/>
              </a:defRPr>
            </a:lvl4pPr>
            <a:lvl5pPr algn="l">
              <a:defRPr sz="1950" b="0">
                <a:solidFill>
                  <a:srgbClr val="163139"/>
                </a:solidFill>
                <a:latin typeface="Arial"/>
                <a:ea typeface="Arial"/>
                <a:cs typeface="Arial"/>
              </a:defRPr>
            </a:lvl5pPr>
            <a:lvl6pPr algn="l">
              <a:defRPr sz="1950" b="0">
                <a:solidFill>
                  <a:srgbClr val="163139"/>
                </a:solidFill>
                <a:latin typeface="Arial"/>
                <a:ea typeface="Arial"/>
                <a:cs typeface="Arial"/>
              </a:defRPr>
            </a:lvl6pPr>
            <a:lvl7pPr algn="l">
              <a:defRPr sz="1950" b="0">
                <a:solidFill>
                  <a:srgbClr val="163139"/>
                </a:solidFill>
                <a:latin typeface="Arial"/>
                <a:ea typeface="Arial"/>
                <a:cs typeface="Arial"/>
              </a:defRPr>
            </a:lvl7pPr>
            <a:lvl8pPr algn="l">
              <a:defRPr sz="1950" b="0">
                <a:solidFill>
                  <a:srgbClr val="163139"/>
                </a:solidFill>
                <a:latin typeface="Arial"/>
                <a:ea typeface="Arial"/>
                <a:cs typeface="Arial"/>
              </a:defRPr>
            </a:lvl8pPr>
            <a:lvl9pPr algn="l">
              <a:defRPr sz="1950" b="0">
                <a:solidFill>
                  <a:srgbClr val="163139"/>
                </a:solidFill>
                <a:latin typeface="Arial"/>
                <a:ea typeface="Arial"/>
                <a:cs typeface="Arial"/>
              </a:defRPr>
            </a:lvl9pPr>
          </a:lstStyle>
          <a:p xmlns:a="http://schemas.openxmlformats.org/drawingml/2006/main">
            <a:pPr algn="l">
              <a:defRPr sz="1950" b="0">
                <a:solidFill>
                  <a:srgbClr val="163139"/>
                </a:solidFill>
                <a:latin typeface="Arial"/>
                <a:ea typeface="Arial"/>
                <a:cs typeface="Arial"/>
              </a:defRPr>
            </a:pPr>
            <a:r>
              <a:rPr sz="1950" b="0">
                <a:solidFill>
                  <a:srgbClr val="163139"/>
                </a:solidFill>
                <a:latin typeface="Arial"/>
                <a:ea typeface="Arial"/>
                <a:cs typeface="Arial"/>
              </a:rPr>
              <a:t>Every run also uses 400 validation labels. SDs describe training-subset variation.</a:t>
            </a:r>
          </a:p>
        </p:txBody>
      </p:sp>
      <p:sp>
        <p:nvSpPr>
          <p:cNvPr id="9" name="">
            <a:extLst xmlns:a="http://schemas.openxmlformats.org/drawingml/2006/main">
              <a:ext uri="{FF2B5EF4-FFF2-40B4-BE49-F238E27FC236}">
                <a16:creationId xmlns:a16="http://schemas.microsoft.com/office/drawing/2014/main" id="{C662F263-7462-49B7-B14C-B4EF912E0D1A}"/>
              </a:ext>
            </a:extLst>
          </p:cNvPr>
          <p:cNvSpPr>
            <a:spLocks xmlns:a="http://schemas.openxmlformats.org/drawingml/2006/main" noGrp="1"/>
          </p:cNvSpPr>
          <p:nvPr/>
        </p:nvSpPr>
        <p:spPr>
          <a:xfrm xmlns:a="http://schemas.openxmlformats.org/drawingml/2006/main">
            <a:off x="609600" y="49434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087E75"/>
                </a:solidFill>
                <a:latin typeface="Arial"/>
                <a:ea typeface="Arial"/>
                <a:cs typeface="Arial"/>
              </a:defRPr>
            </a:defPPr>
            <a:lvl1pPr algn="l">
              <a:defRPr sz="2175" b="1">
                <a:solidFill>
                  <a:srgbClr val="087E75"/>
                </a:solidFill>
                <a:latin typeface="Arial"/>
                <a:ea typeface="Arial"/>
                <a:cs typeface="Arial"/>
              </a:defRPr>
            </a:lvl1pPr>
            <a:lvl2pPr algn="l">
              <a:defRPr sz="2175" b="1">
                <a:solidFill>
                  <a:srgbClr val="087E75"/>
                </a:solidFill>
                <a:latin typeface="Arial"/>
                <a:ea typeface="Arial"/>
                <a:cs typeface="Arial"/>
              </a:defRPr>
            </a:lvl2pPr>
            <a:lvl3pPr algn="l">
              <a:defRPr sz="2175" b="1">
                <a:solidFill>
                  <a:srgbClr val="087E75"/>
                </a:solidFill>
                <a:latin typeface="Arial"/>
                <a:ea typeface="Arial"/>
                <a:cs typeface="Arial"/>
              </a:defRPr>
            </a:lvl3pPr>
            <a:lvl4pPr algn="l">
              <a:defRPr sz="2175" b="1">
                <a:solidFill>
                  <a:srgbClr val="087E75"/>
                </a:solidFill>
                <a:latin typeface="Arial"/>
                <a:ea typeface="Arial"/>
                <a:cs typeface="Arial"/>
              </a:defRPr>
            </a:lvl4pPr>
            <a:lvl5pPr algn="l">
              <a:defRPr sz="2175" b="1">
                <a:solidFill>
                  <a:srgbClr val="087E75"/>
                </a:solidFill>
                <a:latin typeface="Arial"/>
                <a:ea typeface="Arial"/>
                <a:cs typeface="Arial"/>
              </a:defRPr>
            </a:lvl5pPr>
            <a:lvl6pPr algn="l">
              <a:defRPr sz="2175" b="1">
                <a:solidFill>
                  <a:srgbClr val="087E75"/>
                </a:solidFill>
                <a:latin typeface="Arial"/>
                <a:ea typeface="Arial"/>
                <a:cs typeface="Arial"/>
              </a:defRPr>
            </a:lvl6pPr>
            <a:lvl7pPr algn="l">
              <a:defRPr sz="2175" b="1">
                <a:solidFill>
                  <a:srgbClr val="087E75"/>
                </a:solidFill>
                <a:latin typeface="Arial"/>
                <a:ea typeface="Arial"/>
                <a:cs typeface="Arial"/>
              </a:defRPr>
            </a:lvl7pPr>
            <a:lvl8pPr algn="l">
              <a:defRPr sz="2175" b="1">
                <a:solidFill>
                  <a:srgbClr val="087E75"/>
                </a:solidFill>
                <a:latin typeface="Arial"/>
                <a:ea typeface="Arial"/>
                <a:cs typeface="Arial"/>
              </a:defRPr>
            </a:lvl8pPr>
            <a:lvl9pPr algn="l">
              <a:defRPr sz="2175" b="1">
                <a:solidFill>
                  <a:srgbClr val="087E75"/>
                </a:solidFill>
                <a:latin typeface="Arial"/>
                <a:ea typeface="Arial"/>
                <a:cs typeface="Arial"/>
              </a:defRPr>
            </a:lvl9pPr>
          </a:lstStyle>
          <a:p xmlns:a="http://schemas.openxmlformats.org/drawingml/2006/main">
            <a:pPr algn="l">
              <a:defRPr sz="2175" b="1">
                <a:solidFill>
                  <a:srgbClr val="087E75"/>
                </a:solidFill>
                <a:latin typeface="Arial"/>
                <a:ea typeface="Arial"/>
                <a:cs typeface="Arial"/>
              </a:defRPr>
            </a:pPr>
            <a:r>
              <a:rPr sz="2175" b="1">
                <a:solidFill>
                  <a:srgbClr val="087E75"/>
                </a:solidFill>
                <a:latin typeface="Arial"/>
                <a:ea typeface="Arial"/>
                <a:cs typeface="Arial"/>
              </a:rPr>
              <a:t>Generalization</a:t>
            </a:r>
          </a:p>
        </p:txBody>
      </p:sp>
      <p:sp>
        <p:nvSpPr>
          <p:cNvPr id="10" name="">
            <a:extLst xmlns:a="http://schemas.openxmlformats.org/drawingml/2006/main">
              <a:ext uri="{FF2B5EF4-FFF2-40B4-BE49-F238E27FC236}">
                <a16:creationId xmlns:a16="http://schemas.microsoft.com/office/drawing/2014/main" id="{16C6C1C6-D2B2-4850-9756-DBF28C9230FE}"/>
              </a:ext>
            </a:extLst>
          </p:cNvPr>
          <p:cNvSpPr>
            <a:spLocks xmlns:a="http://schemas.openxmlformats.org/drawingml/2006/main" noGrp="1"/>
          </p:cNvSpPr>
          <p:nvPr/>
        </p:nvSpPr>
        <p:spPr>
          <a:xfrm xmlns:a="http://schemas.openxmlformats.org/drawingml/2006/main">
            <a:off x="609600" y="54006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63139"/>
                </a:solidFill>
                <a:latin typeface="Arial"/>
                <a:ea typeface="Arial"/>
                <a:cs typeface="Arial"/>
              </a:defRPr>
            </a:defPPr>
            <a:lvl1pPr algn="l">
              <a:defRPr sz="1950" b="0">
                <a:solidFill>
                  <a:srgbClr val="163139"/>
                </a:solidFill>
                <a:latin typeface="Arial"/>
                <a:ea typeface="Arial"/>
                <a:cs typeface="Arial"/>
              </a:defRPr>
            </a:lvl1pPr>
            <a:lvl2pPr algn="l">
              <a:defRPr sz="1950" b="0">
                <a:solidFill>
                  <a:srgbClr val="163139"/>
                </a:solidFill>
                <a:latin typeface="Arial"/>
                <a:ea typeface="Arial"/>
                <a:cs typeface="Arial"/>
              </a:defRPr>
            </a:lvl2pPr>
            <a:lvl3pPr algn="l">
              <a:defRPr sz="1950" b="0">
                <a:solidFill>
                  <a:srgbClr val="163139"/>
                </a:solidFill>
                <a:latin typeface="Arial"/>
                <a:ea typeface="Arial"/>
                <a:cs typeface="Arial"/>
              </a:defRPr>
            </a:lvl3pPr>
            <a:lvl4pPr algn="l">
              <a:defRPr sz="1950" b="0">
                <a:solidFill>
                  <a:srgbClr val="163139"/>
                </a:solidFill>
                <a:latin typeface="Arial"/>
                <a:ea typeface="Arial"/>
                <a:cs typeface="Arial"/>
              </a:defRPr>
            </a:lvl4pPr>
            <a:lvl5pPr algn="l">
              <a:defRPr sz="1950" b="0">
                <a:solidFill>
                  <a:srgbClr val="163139"/>
                </a:solidFill>
                <a:latin typeface="Arial"/>
                <a:ea typeface="Arial"/>
                <a:cs typeface="Arial"/>
              </a:defRPr>
            </a:lvl5pPr>
            <a:lvl6pPr algn="l">
              <a:defRPr sz="1950" b="0">
                <a:solidFill>
                  <a:srgbClr val="163139"/>
                </a:solidFill>
                <a:latin typeface="Arial"/>
                <a:ea typeface="Arial"/>
                <a:cs typeface="Arial"/>
              </a:defRPr>
            </a:lvl6pPr>
            <a:lvl7pPr algn="l">
              <a:defRPr sz="1950" b="0">
                <a:solidFill>
                  <a:srgbClr val="163139"/>
                </a:solidFill>
                <a:latin typeface="Arial"/>
                <a:ea typeface="Arial"/>
                <a:cs typeface="Arial"/>
              </a:defRPr>
            </a:lvl7pPr>
            <a:lvl8pPr algn="l">
              <a:defRPr sz="1950" b="0">
                <a:solidFill>
                  <a:srgbClr val="163139"/>
                </a:solidFill>
                <a:latin typeface="Arial"/>
                <a:ea typeface="Arial"/>
                <a:cs typeface="Arial"/>
              </a:defRPr>
            </a:lvl8pPr>
            <a:lvl9pPr algn="l">
              <a:defRPr sz="1950" b="0">
                <a:solidFill>
                  <a:srgbClr val="163139"/>
                </a:solidFill>
                <a:latin typeface="Arial"/>
                <a:ea typeface="Arial"/>
                <a:cs typeface="Arial"/>
              </a:defRPr>
            </a:lvl9pPr>
          </a:lstStyle>
          <a:p xmlns:a="http://schemas.openxmlformats.org/drawingml/2006/main">
            <a:pPr algn="l">
              <a:defRPr sz="1950" b="0">
                <a:solidFill>
                  <a:srgbClr val="163139"/>
                </a:solidFill>
                <a:latin typeface="Arial"/>
                <a:ea typeface="Arial"/>
                <a:cs typeface="Arial"/>
              </a:defRPr>
            </a:pPr>
            <a:r>
              <a:rPr sz="1950" b="0">
                <a:solidFill>
                  <a:srgbClr val="163139"/>
                </a:solidFill>
                <a:latin typeface="Arial"/>
                <a:ea typeface="Arial"/>
                <a:cs typeface="Arial"/>
              </a:rPr>
              <a:t>Near-duplicate templates and unsupervised pretraining overlap need further audits.</a:t>
            </a:r>
          </a:p>
        </p:txBody>
      </p:sp>
    </p:spTree>
    <p:extLst>
      <p:ext uri="{BB962C8B-B14F-4D97-AF65-F5344CB8AC3E}">
        <p14:creationId xmlns:p14="http://schemas.microsoft.com/office/powerpoint/2010/main" val="21061559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E57B8D6-7BCF-4F63-B598-429CE8A49E8F}"/>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300" b="1">
                <a:solidFill>
                  <a:srgbClr val="163139"/>
                </a:solidFill>
                <a:latin typeface="Arial"/>
                <a:ea typeface="Arial"/>
                <a:cs typeface="Arial"/>
              </a:defRPr>
            </a:defPPr>
            <a:lvl1pPr algn="l">
              <a:defRPr sz="3300" b="1">
                <a:solidFill>
                  <a:srgbClr val="163139"/>
                </a:solidFill>
                <a:latin typeface="Arial"/>
                <a:ea typeface="Arial"/>
                <a:cs typeface="Arial"/>
              </a:defRPr>
            </a:lvl1pPr>
            <a:lvl2pPr algn="l">
              <a:defRPr sz="3300" b="1">
                <a:solidFill>
                  <a:srgbClr val="163139"/>
                </a:solidFill>
                <a:latin typeface="Arial"/>
                <a:ea typeface="Arial"/>
                <a:cs typeface="Arial"/>
              </a:defRPr>
            </a:lvl2pPr>
            <a:lvl3pPr algn="l">
              <a:defRPr sz="3300" b="1">
                <a:solidFill>
                  <a:srgbClr val="163139"/>
                </a:solidFill>
                <a:latin typeface="Arial"/>
                <a:ea typeface="Arial"/>
                <a:cs typeface="Arial"/>
              </a:defRPr>
            </a:lvl3pPr>
            <a:lvl4pPr algn="l">
              <a:defRPr sz="3300" b="1">
                <a:solidFill>
                  <a:srgbClr val="163139"/>
                </a:solidFill>
                <a:latin typeface="Arial"/>
                <a:ea typeface="Arial"/>
                <a:cs typeface="Arial"/>
              </a:defRPr>
            </a:lvl4pPr>
            <a:lvl5pPr algn="l">
              <a:defRPr sz="3300" b="1">
                <a:solidFill>
                  <a:srgbClr val="163139"/>
                </a:solidFill>
                <a:latin typeface="Arial"/>
                <a:ea typeface="Arial"/>
                <a:cs typeface="Arial"/>
              </a:defRPr>
            </a:lvl5pPr>
            <a:lvl6pPr algn="l">
              <a:defRPr sz="3300" b="1">
                <a:solidFill>
                  <a:srgbClr val="163139"/>
                </a:solidFill>
                <a:latin typeface="Arial"/>
                <a:ea typeface="Arial"/>
                <a:cs typeface="Arial"/>
              </a:defRPr>
            </a:lvl6pPr>
            <a:lvl7pPr algn="l">
              <a:defRPr sz="3300" b="1">
                <a:solidFill>
                  <a:srgbClr val="163139"/>
                </a:solidFill>
                <a:latin typeface="Arial"/>
                <a:ea typeface="Arial"/>
                <a:cs typeface="Arial"/>
              </a:defRPr>
            </a:lvl7pPr>
            <a:lvl8pPr algn="l">
              <a:defRPr sz="3300" b="1">
                <a:solidFill>
                  <a:srgbClr val="163139"/>
                </a:solidFill>
                <a:latin typeface="Arial"/>
                <a:ea typeface="Arial"/>
                <a:cs typeface="Arial"/>
              </a:defRPr>
            </a:lvl8pPr>
            <a:lvl9pPr algn="l">
              <a:defRPr sz="3300" b="1">
                <a:solidFill>
                  <a:srgbClr val="163139"/>
                </a:solidFill>
                <a:latin typeface="Arial"/>
                <a:ea typeface="Arial"/>
                <a:cs typeface="Arial"/>
              </a:defRPr>
            </a:lvl9pPr>
          </a:lstStyle>
          <a:p xmlns:a="http://schemas.openxmlformats.org/drawingml/2006/main">
            <a:pPr algn="l">
              <a:defRPr sz="3300" b="1">
                <a:solidFill>
                  <a:srgbClr val="163139"/>
                </a:solidFill>
                <a:latin typeface="Arial"/>
                <a:ea typeface="Arial"/>
                <a:cs typeface="Arial"/>
              </a:defRPr>
            </a:pPr>
            <a:r>
              <a:rPr sz="3300" b="1">
                <a:solidFill>
                  <a:srgbClr val="163139"/>
                </a:solidFill>
                <a:latin typeface="Arial"/>
                <a:ea typeface="Arial"/>
                <a:cs typeface="Arial"/>
              </a:rPr>
              <a:t>Future plans</a:t>
            </a:r>
          </a:p>
        </p:txBody>
      </p:sp>
      <p:sp>
        <p:nvSpPr>
          <p:cNvPr id="2" name="">
            <a:extLst xmlns:a="http://schemas.openxmlformats.org/drawingml/2006/main">
              <a:ext uri="{FF2B5EF4-FFF2-40B4-BE49-F238E27FC236}">
                <a16:creationId xmlns:a16="http://schemas.microsoft.com/office/drawing/2014/main" id="{81241D5B-FE88-46F7-8F34-F7059CE807EB}"/>
              </a:ext>
            </a:extLst>
          </p:cNvPr>
          <p:cNvSpPr>
            <a:spLocks xmlns:a="http://schemas.openxmlformats.org/drawingml/2006/main" noGrp="1"/>
          </p:cNvSpPr>
          <p:nvPr/>
        </p:nvSpPr>
        <p:spPr>
          <a:xfrm xmlns:a="http://schemas.openxmlformats.org/drawingml/2006/main">
            <a:off x="10810875" y="640080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275" b="0">
                <a:solidFill>
                  <a:srgbClr val="52666D"/>
                </a:solidFill>
                <a:latin typeface="Arial"/>
                <a:ea typeface="Arial"/>
                <a:cs typeface="Arial"/>
              </a:defRPr>
            </a:defPPr>
            <a:lvl1pPr algn="r">
              <a:defRPr sz="1275" b="0">
                <a:solidFill>
                  <a:srgbClr val="52666D"/>
                </a:solidFill>
                <a:latin typeface="Arial"/>
                <a:ea typeface="Arial"/>
                <a:cs typeface="Arial"/>
              </a:defRPr>
            </a:lvl1pPr>
            <a:lvl2pPr algn="r">
              <a:defRPr sz="1275" b="0">
                <a:solidFill>
                  <a:srgbClr val="52666D"/>
                </a:solidFill>
                <a:latin typeface="Arial"/>
                <a:ea typeface="Arial"/>
                <a:cs typeface="Arial"/>
              </a:defRPr>
            </a:lvl2pPr>
            <a:lvl3pPr algn="r">
              <a:defRPr sz="1275" b="0">
                <a:solidFill>
                  <a:srgbClr val="52666D"/>
                </a:solidFill>
                <a:latin typeface="Arial"/>
                <a:ea typeface="Arial"/>
                <a:cs typeface="Arial"/>
              </a:defRPr>
            </a:lvl3pPr>
            <a:lvl4pPr algn="r">
              <a:defRPr sz="1275" b="0">
                <a:solidFill>
                  <a:srgbClr val="52666D"/>
                </a:solidFill>
                <a:latin typeface="Arial"/>
                <a:ea typeface="Arial"/>
                <a:cs typeface="Arial"/>
              </a:defRPr>
            </a:lvl4pPr>
            <a:lvl5pPr algn="r">
              <a:defRPr sz="1275" b="0">
                <a:solidFill>
                  <a:srgbClr val="52666D"/>
                </a:solidFill>
                <a:latin typeface="Arial"/>
                <a:ea typeface="Arial"/>
                <a:cs typeface="Arial"/>
              </a:defRPr>
            </a:lvl5pPr>
            <a:lvl6pPr algn="r">
              <a:defRPr sz="1275" b="0">
                <a:solidFill>
                  <a:srgbClr val="52666D"/>
                </a:solidFill>
                <a:latin typeface="Arial"/>
                <a:ea typeface="Arial"/>
                <a:cs typeface="Arial"/>
              </a:defRPr>
            </a:lvl6pPr>
            <a:lvl7pPr algn="r">
              <a:defRPr sz="1275" b="0">
                <a:solidFill>
                  <a:srgbClr val="52666D"/>
                </a:solidFill>
                <a:latin typeface="Arial"/>
                <a:ea typeface="Arial"/>
                <a:cs typeface="Arial"/>
              </a:defRPr>
            </a:lvl7pPr>
            <a:lvl8pPr algn="r">
              <a:defRPr sz="1275" b="0">
                <a:solidFill>
                  <a:srgbClr val="52666D"/>
                </a:solidFill>
                <a:latin typeface="Arial"/>
                <a:ea typeface="Arial"/>
                <a:cs typeface="Arial"/>
              </a:defRPr>
            </a:lvl8pPr>
            <a:lvl9pPr algn="r">
              <a:defRPr sz="1275" b="0">
                <a:solidFill>
                  <a:srgbClr val="52666D"/>
                </a:solidFill>
                <a:latin typeface="Arial"/>
                <a:ea typeface="Arial"/>
                <a:cs typeface="Arial"/>
              </a:defRPr>
            </a:lvl9pPr>
          </a:lstStyle>
          <a:p xmlns:a="http://schemas.openxmlformats.org/drawingml/2006/main">
            <a:pPr algn="r">
              <a:defRPr sz="1275" b="0">
                <a:solidFill>
                  <a:srgbClr val="52666D"/>
                </a:solidFill>
                <a:latin typeface="Arial"/>
                <a:ea typeface="Arial"/>
                <a:cs typeface="Arial"/>
              </a:defRPr>
            </a:pPr>
            <a:r>
              <a:rPr sz="1275" b="0">
                <a:solidFill>
                  <a:srgbClr val="52666D"/>
                </a:solidFill>
                <a:latin typeface="Arial"/>
                <a:ea typeface="Arial"/>
                <a:cs typeface="Arial"/>
              </a:rPr>
              <a:t>6 / 6</a:t>
            </a:r>
          </a:p>
        </p:txBody>
      </p:sp>
      <p:sp>
        <p:nvSpPr>
          <p:cNvPr id="3" name="">
            <a:extLst xmlns:a="http://schemas.openxmlformats.org/drawingml/2006/main">
              <a:ext uri="{FF2B5EF4-FFF2-40B4-BE49-F238E27FC236}">
                <a16:creationId xmlns:a16="http://schemas.microsoft.com/office/drawing/2014/main" id="{BCD9FE43-6E80-491B-989B-CE887B27B293}"/>
              </a:ext>
            </a:extLst>
          </p:cNvPr>
          <p:cNvSpPr>
            <a:spLocks xmlns:a="http://schemas.openxmlformats.org/drawingml/2006/main" noGrp="1"/>
          </p:cNvSpPr>
          <p:nvPr/>
        </p:nvSpPr>
        <p:spPr>
          <a:xfrm xmlns:a="http://schemas.openxmlformats.org/drawingml/2006/main">
            <a:off x="609600" y="16573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075" b="1">
                <a:solidFill>
                  <a:srgbClr val="087E75"/>
                </a:solidFill>
                <a:latin typeface="Arial"/>
                <a:ea typeface="Arial"/>
                <a:cs typeface="Arial"/>
              </a:defRPr>
            </a:defPPr>
            <a:lvl1pPr algn="l">
              <a:defRPr sz="3075" b="1">
                <a:solidFill>
                  <a:srgbClr val="087E75"/>
                </a:solidFill>
                <a:latin typeface="Arial"/>
                <a:ea typeface="Arial"/>
                <a:cs typeface="Arial"/>
              </a:defRPr>
            </a:lvl1pPr>
            <a:lvl2pPr algn="l">
              <a:defRPr sz="3075" b="1">
                <a:solidFill>
                  <a:srgbClr val="087E75"/>
                </a:solidFill>
                <a:latin typeface="Arial"/>
                <a:ea typeface="Arial"/>
                <a:cs typeface="Arial"/>
              </a:defRPr>
            </a:lvl2pPr>
            <a:lvl3pPr algn="l">
              <a:defRPr sz="3075" b="1">
                <a:solidFill>
                  <a:srgbClr val="087E75"/>
                </a:solidFill>
                <a:latin typeface="Arial"/>
                <a:ea typeface="Arial"/>
                <a:cs typeface="Arial"/>
              </a:defRPr>
            </a:lvl3pPr>
            <a:lvl4pPr algn="l">
              <a:defRPr sz="3075" b="1">
                <a:solidFill>
                  <a:srgbClr val="087E75"/>
                </a:solidFill>
                <a:latin typeface="Arial"/>
                <a:ea typeface="Arial"/>
                <a:cs typeface="Arial"/>
              </a:defRPr>
            </a:lvl4pPr>
            <a:lvl5pPr algn="l">
              <a:defRPr sz="3075" b="1">
                <a:solidFill>
                  <a:srgbClr val="087E75"/>
                </a:solidFill>
                <a:latin typeface="Arial"/>
                <a:ea typeface="Arial"/>
                <a:cs typeface="Arial"/>
              </a:defRPr>
            </a:lvl5pPr>
            <a:lvl6pPr algn="l">
              <a:defRPr sz="3075" b="1">
                <a:solidFill>
                  <a:srgbClr val="087E75"/>
                </a:solidFill>
                <a:latin typeface="Arial"/>
                <a:ea typeface="Arial"/>
                <a:cs typeface="Arial"/>
              </a:defRPr>
            </a:lvl6pPr>
            <a:lvl7pPr algn="l">
              <a:defRPr sz="3075" b="1">
                <a:solidFill>
                  <a:srgbClr val="087E75"/>
                </a:solidFill>
                <a:latin typeface="Arial"/>
                <a:ea typeface="Arial"/>
                <a:cs typeface="Arial"/>
              </a:defRPr>
            </a:lvl7pPr>
            <a:lvl8pPr algn="l">
              <a:defRPr sz="3075" b="1">
                <a:solidFill>
                  <a:srgbClr val="087E75"/>
                </a:solidFill>
                <a:latin typeface="Arial"/>
                <a:ea typeface="Arial"/>
                <a:cs typeface="Arial"/>
              </a:defRPr>
            </a:lvl8pPr>
            <a:lvl9pPr algn="l">
              <a:defRPr sz="3075" b="1">
                <a:solidFill>
                  <a:srgbClr val="087E75"/>
                </a:solidFill>
                <a:latin typeface="Arial"/>
                <a:ea typeface="Arial"/>
                <a:cs typeface="Arial"/>
              </a:defRPr>
            </a:lvl9pPr>
          </a:lstStyle>
          <a:p xmlns:a="http://schemas.openxmlformats.org/drawingml/2006/main">
            <a:pPr algn="l">
              <a:defRPr sz="3075" b="1">
                <a:solidFill>
                  <a:srgbClr val="087E75"/>
                </a:solidFill>
                <a:latin typeface="Arial"/>
                <a:ea typeface="Arial"/>
                <a:cs typeface="Arial"/>
              </a:defRPr>
            </a:pPr>
            <a:r>
              <a:rPr sz="3075" b="1">
                <a:solidFill>
                  <a:srgbClr val="087E75"/>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BA3D249-CA78-4730-B39E-DCAA722AFC3D}"/>
              </a:ext>
            </a:extLst>
          </p:cNvPr>
          <p:cNvSpPr>
            <a:spLocks xmlns:a="http://schemas.openxmlformats.org/drawingml/2006/main" noGrp="1"/>
          </p:cNvSpPr>
          <p:nvPr/>
        </p:nvSpPr>
        <p:spPr>
          <a:xfrm xmlns:a="http://schemas.openxmlformats.org/drawingml/2006/main">
            <a:off x="1562100" y="1609725"/>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1">
                <a:solidFill>
                  <a:srgbClr val="163139"/>
                </a:solidFill>
                <a:latin typeface="Arial"/>
                <a:ea typeface="Arial"/>
                <a:cs typeface="Arial"/>
              </a:defRPr>
            </a:defPPr>
            <a:lvl1pPr algn="l">
              <a:defRPr sz="2400" b="1">
                <a:solidFill>
                  <a:srgbClr val="163139"/>
                </a:solidFill>
                <a:latin typeface="Arial"/>
                <a:ea typeface="Arial"/>
                <a:cs typeface="Arial"/>
              </a:defRPr>
            </a:lvl1pPr>
            <a:lvl2pPr algn="l">
              <a:defRPr sz="2400" b="1">
                <a:solidFill>
                  <a:srgbClr val="163139"/>
                </a:solidFill>
                <a:latin typeface="Arial"/>
                <a:ea typeface="Arial"/>
                <a:cs typeface="Arial"/>
              </a:defRPr>
            </a:lvl2pPr>
            <a:lvl3pPr algn="l">
              <a:defRPr sz="2400" b="1">
                <a:solidFill>
                  <a:srgbClr val="163139"/>
                </a:solidFill>
                <a:latin typeface="Arial"/>
                <a:ea typeface="Arial"/>
                <a:cs typeface="Arial"/>
              </a:defRPr>
            </a:lvl3pPr>
            <a:lvl4pPr algn="l">
              <a:defRPr sz="2400" b="1">
                <a:solidFill>
                  <a:srgbClr val="163139"/>
                </a:solidFill>
                <a:latin typeface="Arial"/>
                <a:ea typeface="Arial"/>
                <a:cs typeface="Arial"/>
              </a:defRPr>
            </a:lvl4pPr>
            <a:lvl5pPr algn="l">
              <a:defRPr sz="2400" b="1">
                <a:solidFill>
                  <a:srgbClr val="163139"/>
                </a:solidFill>
                <a:latin typeface="Arial"/>
                <a:ea typeface="Arial"/>
                <a:cs typeface="Arial"/>
              </a:defRPr>
            </a:lvl5pPr>
            <a:lvl6pPr algn="l">
              <a:defRPr sz="2400" b="1">
                <a:solidFill>
                  <a:srgbClr val="163139"/>
                </a:solidFill>
                <a:latin typeface="Arial"/>
                <a:ea typeface="Arial"/>
                <a:cs typeface="Arial"/>
              </a:defRPr>
            </a:lvl6pPr>
            <a:lvl7pPr algn="l">
              <a:defRPr sz="2400" b="1">
                <a:solidFill>
                  <a:srgbClr val="163139"/>
                </a:solidFill>
                <a:latin typeface="Arial"/>
                <a:ea typeface="Arial"/>
                <a:cs typeface="Arial"/>
              </a:defRPr>
            </a:lvl7pPr>
            <a:lvl8pPr algn="l">
              <a:defRPr sz="2400" b="1">
                <a:solidFill>
                  <a:srgbClr val="163139"/>
                </a:solidFill>
                <a:latin typeface="Arial"/>
                <a:ea typeface="Arial"/>
                <a:cs typeface="Arial"/>
              </a:defRPr>
            </a:lvl8pPr>
            <a:lvl9pPr algn="l">
              <a:defRPr sz="2400" b="1">
                <a:solidFill>
                  <a:srgbClr val="163139"/>
                </a:solidFill>
                <a:latin typeface="Arial"/>
                <a:ea typeface="Arial"/>
                <a:cs typeface="Arial"/>
              </a:defRPr>
            </a:lvl9pPr>
          </a:lstStyle>
          <a:p xmlns:a="http://schemas.openxmlformats.org/drawingml/2006/main">
            <a:pPr algn="l">
              <a:defRPr sz="2400" b="1">
                <a:solidFill>
                  <a:srgbClr val="163139"/>
                </a:solidFill>
                <a:latin typeface="Arial"/>
                <a:ea typeface="Arial"/>
                <a:cs typeface="Arial"/>
              </a:defRPr>
            </a:pPr>
            <a:r>
              <a:rPr sz="2400" b="1">
                <a:solidFill>
                  <a:srgbClr val="163139"/>
                </a:solidFill>
                <a:latin typeface="Arial"/>
                <a:ea typeface="Arial"/>
                <a:cs typeface="Arial"/>
              </a:rPr>
              <a:t>Expand the corpus experiment</a:t>
            </a:r>
          </a:p>
        </p:txBody>
      </p:sp>
      <p:sp>
        <p:nvSpPr>
          <p:cNvPr id="5" name="">
            <a:extLst xmlns:a="http://schemas.openxmlformats.org/drawingml/2006/main">
              <a:ext uri="{FF2B5EF4-FFF2-40B4-BE49-F238E27FC236}">
                <a16:creationId xmlns:a16="http://schemas.microsoft.com/office/drawing/2014/main" id="{9EA71F77-075E-454C-9768-2201CE9BDAE8}"/>
              </a:ext>
            </a:extLst>
          </p:cNvPr>
          <p:cNvSpPr>
            <a:spLocks xmlns:a="http://schemas.openxmlformats.org/drawingml/2006/main" noGrp="1"/>
          </p:cNvSpPr>
          <p:nvPr/>
        </p:nvSpPr>
        <p:spPr>
          <a:xfrm xmlns:a="http://schemas.openxmlformats.org/drawingml/2006/main">
            <a:off x="1562100" y="2124075"/>
            <a:ext cx="962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52666D"/>
                </a:solidFill>
                <a:latin typeface="Arial"/>
                <a:ea typeface="Arial"/>
                <a:cs typeface="Arial"/>
              </a:defRPr>
            </a:defPPr>
            <a:lvl1pPr algn="l">
              <a:defRPr sz="2025" b="0">
                <a:solidFill>
                  <a:srgbClr val="52666D"/>
                </a:solidFill>
                <a:latin typeface="Arial"/>
                <a:ea typeface="Arial"/>
                <a:cs typeface="Arial"/>
              </a:defRPr>
            </a:lvl1pPr>
            <a:lvl2pPr algn="l">
              <a:defRPr sz="2025" b="0">
                <a:solidFill>
                  <a:srgbClr val="52666D"/>
                </a:solidFill>
                <a:latin typeface="Arial"/>
                <a:ea typeface="Arial"/>
                <a:cs typeface="Arial"/>
              </a:defRPr>
            </a:lvl2pPr>
            <a:lvl3pPr algn="l">
              <a:defRPr sz="2025" b="0">
                <a:solidFill>
                  <a:srgbClr val="52666D"/>
                </a:solidFill>
                <a:latin typeface="Arial"/>
                <a:ea typeface="Arial"/>
                <a:cs typeface="Arial"/>
              </a:defRPr>
            </a:lvl3pPr>
            <a:lvl4pPr algn="l">
              <a:defRPr sz="2025" b="0">
                <a:solidFill>
                  <a:srgbClr val="52666D"/>
                </a:solidFill>
                <a:latin typeface="Arial"/>
                <a:ea typeface="Arial"/>
                <a:cs typeface="Arial"/>
              </a:defRPr>
            </a:lvl4pPr>
            <a:lvl5pPr algn="l">
              <a:defRPr sz="2025" b="0">
                <a:solidFill>
                  <a:srgbClr val="52666D"/>
                </a:solidFill>
                <a:latin typeface="Arial"/>
                <a:ea typeface="Arial"/>
                <a:cs typeface="Arial"/>
              </a:defRPr>
            </a:lvl5pPr>
            <a:lvl6pPr algn="l">
              <a:defRPr sz="2025" b="0">
                <a:solidFill>
                  <a:srgbClr val="52666D"/>
                </a:solidFill>
                <a:latin typeface="Arial"/>
                <a:ea typeface="Arial"/>
                <a:cs typeface="Arial"/>
              </a:defRPr>
            </a:lvl6pPr>
            <a:lvl7pPr algn="l">
              <a:defRPr sz="2025" b="0">
                <a:solidFill>
                  <a:srgbClr val="52666D"/>
                </a:solidFill>
                <a:latin typeface="Arial"/>
                <a:ea typeface="Arial"/>
                <a:cs typeface="Arial"/>
              </a:defRPr>
            </a:lvl7pPr>
            <a:lvl8pPr algn="l">
              <a:defRPr sz="2025" b="0">
                <a:solidFill>
                  <a:srgbClr val="52666D"/>
                </a:solidFill>
                <a:latin typeface="Arial"/>
                <a:ea typeface="Arial"/>
                <a:cs typeface="Arial"/>
              </a:defRPr>
            </a:lvl8pPr>
            <a:lvl9pPr algn="l">
              <a:defRPr sz="2025" b="0">
                <a:solidFill>
                  <a:srgbClr val="52666D"/>
                </a:solidFill>
                <a:latin typeface="Arial"/>
                <a:ea typeface="Arial"/>
                <a:cs typeface="Arial"/>
              </a:defRPr>
            </a:lvl9pPr>
          </a:lstStyle>
          <a:p xmlns:a="http://schemas.openxmlformats.org/drawingml/2006/main">
            <a:pPr algn="l">
              <a:defRPr sz="2025" b="0">
                <a:solidFill>
                  <a:srgbClr val="52666D"/>
                </a:solidFill>
                <a:latin typeface="Arial"/>
                <a:ea typeface="Arial"/>
                <a:cs typeface="Arial"/>
              </a:defRPr>
            </a:pPr>
            <a:r>
              <a:rPr sz="2025" b="0">
                <a:solidFill>
                  <a:srgbClr val="52666D"/>
                </a:solidFill>
                <a:latin typeface="Arial"/>
                <a:ea typeface="Arial"/>
                <a:cs typeface="Arial"/>
              </a:rPr>
              <a:t>Use the uncapped split and inspect errors by cue family</a:t>
            </a:r>
          </a:p>
        </p:txBody>
      </p:sp>
      <p:sp>
        <p:nvSpPr>
          <p:cNvPr id="6" name="">
            <a:extLst xmlns:a="http://schemas.openxmlformats.org/drawingml/2006/main">
              <a:ext uri="{FF2B5EF4-FFF2-40B4-BE49-F238E27FC236}">
                <a16:creationId xmlns:a16="http://schemas.microsoft.com/office/drawing/2014/main" id="{50D0427E-8861-471D-836A-60D3E55AD0AC}"/>
              </a:ext>
            </a:extLst>
          </p:cNvPr>
          <p:cNvSpPr>
            <a:spLocks xmlns:a="http://schemas.openxmlformats.org/drawingml/2006/main" noGrp="1"/>
          </p:cNvSpPr>
          <p:nvPr/>
        </p:nvSpPr>
        <p:spPr>
          <a:xfrm xmlns:a="http://schemas.openxmlformats.org/drawingml/2006/main">
            <a:off x="609600" y="31432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075" b="1">
                <a:solidFill>
                  <a:srgbClr val="087E75"/>
                </a:solidFill>
                <a:latin typeface="Arial"/>
                <a:ea typeface="Arial"/>
                <a:cs typeface="Arial"/>
              </a:defRPr>
            </a:defPPr>
            <a:lvl1pPr algn="l">
              <a:defRPr sz="3075" b="1">
                <a:solidFill>
                  <a:srgbClr val="087E75"/>
                </a:solidFill>
                <a:latin typeface="Arial"/>
                <a:ea typeface="Arial"/>
                <a:cs typeface="Arial"/>
              </a:defRPr>
            </a:lvl1pPr>
            <a:lvl2pPr algn="l">
              <a:defRPr sz="3075" b="1">
                <a:solidFill>
                  <a:srgbClr val="087E75"/>
                </a:solidFill>
                <a:latin typeface="Arial"/>
                <a:ea typeface="Arial"/>
                <a:cs typeface="Arial"/>
              </a:defRPr>
            </a:lvl2pPr>
            <a:lvl3pPr algn="l">
              <a:defRPr sz="3075" b="1">
                <a:solidFill>
                  <a:srgbClr val="087E75"/>
                </a:solidFill>
                <a:latin typeface="Arial"/>
                <a:ea typeface="Arial"/>
                <a:cs typeface="Arial"/>
              </a:defRPr>
            </a:lvl3pPr>
            <a:lvl4pPr algn="l">
              <a:defRPr sz="3075" b="1">
                <a:solidFill>
                  <a:srgbClr val="087E75"/>
                </a:solidFill>
                <a:latin typeface="Arial"/>
                <a:ea typeface="Arial"/>
                <a:cs typeface="Arial"/>
              </a:defRPr>
            </a:lvl4pPr>
            <a:lvl5pPr algn="l">
              <a:defRPr sz="3075" b="1">
                <a:solidFill>
                  <a:srgbClr val="087E75"/>
                </a:solidFill>
                <a:latin typeface="Arial"/>
                <a:ea typeface="Arial"/>
                <a:cs typeface="Arial"/>
              </a:defRPr>
            </a:lvl5pPr>
            <a:lvl6pPr algn="l">
              <a:defRPr sz="3075" b="1">
                <a:solidFill>
                  <a:srgbClr val="087E75"/>
                </a:solidFill>
                <a:latin typeface="Arial"/>
                <a:ea typeface="Arial"/>
                <a:cs typeface="Arial"/>
              </a:defRPr>
            </a:lvl6pPr>
            <a:lvl7pPr algn="l">
              <a:defRPr sz="3075" b="1">
                <a:solidFill>
                  <a:srgbClr val="087E75"/>
                </a:solidFill>
                <a:latin typeface="Arial"/>
                <a:ea typeface="Arial"/>
                <a:cs typeface="Arial"/>
              </a:defRPr>
            </a:lvl7pPr>
            <a:lvl8pPr algn="l">
              <a:defRPr sz="3075" b="1">
                <a:solidFill>
                  <a:srgbClr val="087E75"/>
                </a:solidFill>
                <a:latin typeface="Arial"/>
                <a:ea typeface="Arial"/>
                <a:cs typeface="Arial"/>
              </a:defRPr>
            </a:lvl8pPr>
            <a:lvl9pPr algn="l">
              <a:defRPr sz="3075" b="1">
                <a:solidFill>
                  <a:srgbClr val="087E75"/>
                </a:solidFill>
                <a:latin typeface="Arial"/>
                <a:ea typeface="Arial"/>
                <a:cs typeface="Arial"/>
              </a:defRPr>
            </a:lvl9pPr>
          </a:lstStyle>
          <a:p xmlns:a="http://schemas.openxmlformats.org/drawingml/2006/main">
            <a:pPr algn="l">
              <a:defRPr sz="3075" b="1">
                <a:solidFill>
                  <a:srgbClr val="087E75"/>
                </a:solidFill>
                <a:latin typeface="Arial"/>
                <a:ea typeface="Arial"/>
                <a:cs typeface="Arial"/>
              </a:defRPr>
            </a:pPr>
            <a:r>
              <a:rPr sz="3075" b="1">
                <a:solidFill>
                  <a:srgbClr val="087E75"/>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4D812D1-3AAF-4381-AD4D-E1466C013B96}"/>
              </a:ext>
            </a:extLst>
          </p:cNvPr>
          <p:cNvSpPr>
            <a:spLocks xmlns:a="http://schemas.openxmlformats.org/drawingml/2006/main" noGrp="1"/>
          </p:cNvSpPr>
          <p:nvPr/>
        </p:nvSpPr>
        <p:spPr>
          <a:xfrm xmlns:a="http://schemas.openxmlformats.org/drawingml/2006/main">
            <a:off x="1562100" y="3095625"/>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1">
                <a:solidFill>
                  <a:srgbClr val="163139"/>
                </a:solidFill>
                <a:latin typeface="Arial"/>
                <a:ea typeface="Arial"/>
                <a:cs typeface="Arial"/>
              </a:defRPr>
            </a:defPPr>
            <a:lvl1pPr algn="l">
              <a:defRPr sz="2400" b="1">
                <a:solidFill>
                  <a:srgbClr val="163139"/>
                </a:solidFill>
                <a:latin typeface="Arial"/>
                <a:ea typeface="Arial"/>
                <a:cs typeface="Arial"/>
              </a:defRPr>
            </a:lvl1pPr>
            <a:lvl2pPr algn="l">
              <a:defRPr sz="2400" b="1">
                <a:solidFill>
                  <a:srgbClr val="163139"/>
                </a:solidFill>
                <a:latin typeface="Arial"/>
                <a:ea typeface="Arial"/>
                <a:cs typeface="Arial"/>
              </a:defRPr>
            </a:lvl2pPr>
            <a:lvl3pPr algn="l">
              <a:defRPr sz="2400" b="1">
                <a:solidFill>
                  <a:srgbClr val="163139"/>
                </a:solidFill>
                <a:latin typeface="Arial"/>
                <a:ea typeface="Arial"/>
                <a:cs typeface="Arial"/>
              </a:defRPr>
            </a:lvl3pPr>
            <a:lvl4pPr algn="l">
              <a:defRPr sz="2400" b="1">
                <a:solidFill>
                  <a:srgbClr val="163139"/>
                </a:solidFill>
                <a:latin typeface="Arial"/>
                <a:ea typeface="Arial"/>
                <a:cs typeface="Arial"/>
              </a:defRPr>
            </a:lvl4pPr>
            <a:lvl5pPr algn="l">
              <a:defRPr sz="2400" b="1">
                <a:solidFill>
                  <a:srgbClr val="163139"/>
                </a:solidFill>
                <a:latin typeface="Arial"/>
                <a:ea typeface="Arial"/>
                <a:cs typeface="Arial"/>
              </a:defRPr>
            </a:lvl5pPr>
            <a:lvl6pPr algn="l">
              <a:defRPr sz="2400" b="1">
                <a:solidFill>
                  <a:srgbClr val="163139"/>
                </a:solidFill>
                <a:latin typeface="Arial"/>
                <a:ea typeface="Arial"/>
                <a:cs typeface="Arial"/>
              </a:defRPr>
            </a:lvl6pPr>
            <a:lvl7pPr algn="l">
              <a:defRPr sz="2400" b="1">
                <a:solidFill>
                  <a:srgbClr val="163139"/>
                </a:solidFill>
                <a:latin typeface="Arial"/>
                <a:ea typeface="Arial"/>
                <a:cs typeface="Arial"/>
              </a:defRPr>
            </a:lvl7pPr>
            <a:lvl8pPr algn="l">
              <a:defRPr sz="2400" b="1">
                <a:solidFill>
                  <a:srgbClr val="163139"/>
                </a:solidFill>
                <a:latin typeface="Arial"/>
                <a:ea typeface="Arial"/>
                <a:cs typeface="Arial"/>
              </a:defRPr>
            </a:lvl8pPr>
            <a:lvl9pPr algn="l">
              <a:defRPr sz="2400" b="1">
                <a:solidFill>
                  <a:srgbClr val="163139"/>
                </a:solidFill>
                <a:latin typeface="Arial"/>
                <a:ea typeface="Arial"/>
                <a:cs typeface="Arial"/>
              </a:defRPr>
            </a:lvl9pPr>
          </a:lstStyle>
          <a:p xmlns:a="http://schemas.openxmlformats.org/drawingml/2006/main">
            <a:pPr algn="l">
              <a:defRPr sz="2400" b="1">
                <a:solidFill>
                  <a:srgbClr val="163139"/>
                </a:solidFill>
                <a:latin typeface="Arial"/>
                <a:ea typeface="Arial"/>
                <a:cs typeface="Arial"/>
              </a:defRPr>
            </a:pPr>
            <a:r>
              <a:rPr sz="2400" b="1">
                <a:solidFill>
                  <a:srgbClr val="163139"/>
                </a:solidFill>
                <a:latin typeface="Arial"/>
                <a:ea typeface="Arial"/>
                <a:cs typeface="Arial"/>
              </a:rPr>
              <a:t>Retain mixed cues</a:t>
            </a:r>
          </a:p>
        </p:txBody>
      </p:sp>
      <p:sp>
        <p:nvSpPr>
          <p:cNvPr id="8" name="">
            <a:extLst xmlns:a="http://schemas.openxmlformats.org/drawingml/2006/main">
              <a:ext uri="{FF2B5EF4-FFF2-40B4-BE49-F238E27FC236}">
                <a16:creationId xmlns:a16="http://schemas.microsoft.com/office/drawing/2014/main" id="{72079F5E-8E09-42F4-B8D3-EB6B43B7A72E}"/>
              </a:ext>
            </a:extLst>
          </p:cNvPr>
          <p:cNvSpPr>
            <a:spLocks xmlns:a="http://schemas.openxmlformats.org/drawingml/2006/main" noGrp="1"/>
          </p:cNvSpPr>
          <p:nvPr/>
        </p:nvSpPr>
        <p:spPr>
          <a:xfrm xmlns:a="http://schemas.openxmlformats.org/drawingml/2006/main">
            <a:off x="1562100" y="3609975"/>
            <a:ext cx="962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52666D"/>
                </a:solidFill>
                <a:latin typeface="Arial"/>
                <a:ea typeface="Arial"/>
                <a:cs typeface="Arial"/>
              </a:defRPr>
            </a:defPPr>
            <a:lvl1pPr algn="l">
              <a:defRPr sz="2025" b="0">
                <a:solidFill>
                  <a:srgbClr val="52666D"/>
                </a:solidFill>
                <a:latin typeface="Arial"/>
                <a:ea typeface="Arial"/>
                <a:cs typeface="Arial"/>
              </a:defRPr>
            </a:lvl1pPr>
            <a:lvl2pPr algn="l">
              <a:defRPr sz="2025" b="0">
                <a:solidFill>
                  <a:srgbClr val="52666D"/>
                </a:solidFill>
                <a:latin typeface="Arial"/>
                <a:ea typeface="Arial"/>
                <a:cs typeface="Arial"/>
              </a:defRPr>
            </a:lvl2pPr>
            <a:lvl3pPr algn="l">
              <a:defRPr sz="2025" b="0">
                <a:solidFill>
                  <a:srgbClr val="52666D"/>
                </a:solidFill>
                <a:latin typeface="Arial"/>
                <a:ea typeface="Arial"/>
                <a:cs typeface="Arial"/>
              </a:defRPr>
            </a:lvl3pPr>
            <a:lvl4pPr algn="l">
              <a:defRPr sz="2025" b="0">
                <a:solidFill>
                  <a:srgbClr val="52666D"/>
                </a:solidFill>
                <a:latin typeface="Arial"/>
                <a:ea typeface="Arial"/>
                <a:cs typeface="Arial"/>
              </a:defRPr>
            </a:lvl4pPr>
            <a:lvl5pPr algn="l">
              <a:defRPr sz="2025" b="0">
                <a:solidFill>
                  <a:srgbClr val="52666D"/>
                </a:solidFill>
                <a:latin typeface="Arial"/>
                <a:ea typeface="Arial"/>
                <a:cs typeface="Arial"/>
              </a:defRPr>
            </a:lvl5pPr>
            <a:lvl6pPr algn="l">
              <a:defRPr sz="2025" b="0">
                <a:solidFill>
                  <a:srgbClr val="52666D"/>
                </a:solidFill>
                <a:latin typeface="Arial"/>
                <a:ea typeface="Arial"/>
                <a:cs typeface="Arial"/>
              </a:defRPr>
            </a:lvl6pPr>
            <a:lvl7pPr algn="l">
              <a:defRPr sz="2025" b="0">
                <a:solidFill>
                  <a:srgbClr val="52666D"/>
                </a:solidFill>
                <a:latin typeface="Arial"/>
                <a:ea typeface="Arial"/>
                <a:cs typeface="Arial"/>
              </a:defRPr>
            </a:lvl7pPr>
            <a:lvl8pPr algn="l">
              <a:defRPr sz="2025" b="0">
                <a:solidFill>
                  <a:srgbClr val="52666D"/>
                </a:solidFill>
                <a:latin typeface="Arial"/>
                <a:ea typeface="Arial"/>
                <a:cs typeface="Arial"/>
              </a:defRPr>
            </a:lvl8pPr>
            <a:lvl9pPr algn="l">
              <a:defRPr sz="2025" b="0">
                <a:solidFill>
                  <a:srgbClr val="52666D"/>
                </a:solidFill>
                <a:latin typeface="Arial"/>
                <a:ea typeface="Arial"/>
                <a:cs typeface="Arial"/>
              </a:defRPr>
            </a:lvl9pPr>
          </a:lstStyle>
          <a:p xmlns:a="http://schemas.openxmlformats.org/drawingml/2006/main">
            <a:pPr algn="l">
              <a:defRPr sz="2025" b="0">
                <a:solidFill>
                  <a:srgbClr val="52666D"/>
                </a:solidFill>
                <a:latin typeface="Arial"/>
                <a:ea typeface="Arial"/>
                <a:cs typeface="Arial"/>
              </a:defRPr>
            </a:pPr>
            <a:r>
              <a:rPr sz="2025" b="0">
                <a:solidFill>
                  <a:srgbClr val="52666D"/>
                </a:solidFill>
                <a:latin typeface="Arial"/>
                <a:ea typeface="Arial"/>
                <a:cs typeface="Arial"/>
              </a:rPr>
              <a:t>Evaluate two binary labels and controlled sentence diagnostics</a:t>
            </a:r>
          </a:p>
        </p:txBody>
      </p:sp>
      <p:sp>
        <p:nvSpPr>
          <p:cNvPr id="9" name="">
            <a:extLst xmlns:a="http://schemas.openxmlformats.org/drawingml/2006/main">
              <a:ext uri="{FF2B5EF4-FFF2-40B4-BE49-F238E27FC236}">
                <a16:creationId xmlns:a16="http://schemas.microsoft.com/office/drawing/2014/main" id="{11EED43B-42F2-4CA7-B90A-589C17A38AAC}"/>
              </a:ext>
            </a:extLst>
          </p:cNvPr>
          <p:cNvSpPr>
            <a:spLocks xmlns:a="http://schemas.openxmlformats.org/drawingml/2006/main" noGrp="1"/>
          </p:cNvSpPr>
          <p:nvPr/>
        </p:nvSpPr>
        <p:spPr>
          <a:xfrm xmlns:a="http://schemas.openxmlformats.org/drawingml/2006/main">
            <a:off x="609600" y="46291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075" b="1">
                <a:solidFill>
                  <a:srgbClr val="087E75"/>
                </a:solidFill>
                <a:latin typeface="Arial"/>
                <a:ea typeface="Arial"/>
                <a:cs typeface="Arial"/>
              </a:defRPr>
            </a:defPPr>
            <a:lvl1pPr algn="l">
              <a:defRPr sz="3075" b="1">
                <a:solidFill>
                  <a:srgbClr val="087E75"/>
                </a:solidFill>
                <a:latin typeface="Arial"/>
                <a:ea typeface="Arial"/>
                <a:cs typeface="Arial"/>
              </a:defRPr>
            </a:lvl1pPr>
            <a:lvl2pPr algn="l">
              <a:defRPr sz="3075" b="1">
                <a:solidFill>
                  <a:srgbClr val="087E75"/>
                </a:solidFill>
                <a:latin typeface="Arial"/>
                <a:ea typeface="Arial"/>
                <a:cs typeface="Arial"/>
              </a:defRPr>
            </a:lvl2pPr>
            <a:lvl3pPr algn="l">
              <a:defRPr sz="3075" b="1">
                <a:solidFill>
                  <a:srgbClr val="087E75"/>
                </a:solidFill>
                <a:latin typeface="Arial"/>
                <a:ea typeface="Arial"/>
                <a:cs typeface="Arial"/>
              </a:defRPr>
            </a:lvl3pPr>
            <a:lvl4pPr algn="l">
              <a:defRPr sz="3075" b="1">
                <a:solidFill>
                  <a:srgbClr val="087E75"/>
                </a:solidFill>
                <a:latin typeface="Arial"/>
                <a:ea typeface="Arial"/>
                <a:cs typeface="Arial"/>
              </a:defRPr>
            </a:lvl4pPr>
            <a:lvl5pPr algn="l">
              <a:defRPr sz="3075" b="1">
                <a:solidFill>
                  <a:srgbClr val="087E75"/>
                </a:solidFill>
                <a:latin typeface="Arial"/>
                <a:ea typeface="Arial"/>
                <a:cs typeface="Arial"/>
              </a:defRPr>
            </a:lvl5pPr>
            <a:lvl6pPr algn="l">
              <a:defRPr sz="3075" b="1">
                <a:solidFill>
                  <a:srgbClr val="087E75"/>
                </a:solidFill>
                <a:latin typeface="Arial"/>
                <a:ea typeface="Arial"/>
                <a:cs typeface="Arial"/>
              </a:defRPr>
            </a:lvl6pPr>
            <a:lvl7pPr algn="l">
              <a:defRPr sz="3075" b="1">
                <a:solidFill>
                  <a:srgbClr val="087E75"/>
                </a:solidFill>
                <a:latin typeface="Arial"/>
                <a:ea typeface="Arial"/>
                <a:cs typeface="Arial"/>
              </a:defRPr>
            </a:lvl7pPr>
            <a:lvl8pPr algn="l">
              <a:defRPr sz="3075" b="1">
                <a:solidFill>
                  <a:srgbClr val="087E75"/>
                </a:solidFill>
                <a:latin typeface="Arial"/>
                <a:ea typeface="Arial"/>
                <a:cs typeface="Arial"/>
              </a:defRPr>
            </a:lvl8pPr>
            <a:lvl9pPr algn="l">
              <a:defRPr sz="3075" b="1">
                <a:solidFill>
                  <a:srgbClr val="087E75"/>
                </a:solidFill>
                <a:latin typeface="Arial"/>
                <a:ea typeface="Arial"/>
                <a:cs typeface="Arial"/>
              </a:defRPr>
            </a:lvl9pPr>
          </a:lstStyle>
          <a:p xmlns:a="http://schemas.openxmlformats.org/drawingml/2006/main">
            <a:pPr algn="l">
              <a:defRPr sz="3075" b="1">
                <a:solidFill>
                  <a:srgbClr val="087E75"/>
                </a:solidFill>
                <a:latin typeface="Arial"/>
                <a:ea typeface="Arial"/>
                <a:cs typeface="Arial"/>
              </a:defRPr>
            </a:pPr>
            <a:r>
              <a:rPr sz="3075" b="1">
                <a:solidFill>
                  <a:srgbClr val="087E75"/>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F35B6C4-6F79-4141-8C9E-217528A5F4B9}"/>
              </a:ext>
            </a:extLst>
          </p:cNvPr>
          <p:cNvSpPr>
            <a:spLocks xmlns:a="http://schemas.openxmlformats.org/drawingml/2006/main" noGrp="1"/>
          </p:cNvSpPr>
          <p:nvPr/>
        </p:nvSpPr>
        <p:spPr>
          <a:xfrm xmlns:a="http://schemas.openxmlformats.org/drawingml/2006/main">
            <a:off x="1562100" y="4581525"/>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1">
                <a:solidFill>
                  <a:srgbClr val="163139"/>
                </a:solidFill>
                <a:latin typeface="Arial"/>
                <a:ea typeface="Arial"/>
                <a:cs typeface="Arial"/>
              </a:defRPr>
            </a:defPPr>
            <a:lvl1pPr algn="l">
              <a:defRPr sz="2400" b="1">
                <a:solidFill>
                  <a:srgbClr val="163139"/>
                </a:solidFill>
                <a:latin typeface="Arial"/>
                <a:ea typeface="Arial"/>
                <a:cs typeface="Arial"/>
              </a:defRPr>
            </a:lvl1pPr>
            <a:lvl2pPr algn="l">
              <a:defRPr sz="2400" b="1">
                <a:solidFill>
                  <a:srgbClr val="163139"/>
                </a:solidFill>
                <a:latin typeface="Arial"/>
                <a:ea typeface="Arial"/>
                <a:cs typeface="Arial"/>
              </a:defRPr>
            </a:lvl2pPr>
            <a:lvl3pPr algn="l">
              <a:defRPr sz="2400" b="1">
                <a:solidFill>
                  <a:srgbClr val="163139"/>
                </a:solidFill>
                <a:latin typeface="Arial"/>
                <a:ea typeface="Arial"/>
                <a:cs typeface="Arial"/>
              </a:defRPr>
            </a:lvl3pPr>
            <a:lvl4pPr algn="l">
              <a:defRPr sz="2400" b="1">
                <a:solidFill>
                  <a:srgbClr val="163139"/>
                </a:solidFill>
                <a:latin typeface="Arial"/>
                <a:ea typeface="Arial"/>
                <a:cs typeface="Arial"/>
              </a:defRPr>
            </a:lvl4pPr>
            <a:lvl5pPr algn="l">
              <a:defRPr sz="2400" b="1">
                <a:solidFill>
                  <a:srgbClr val="163139"/>
                </a:solidFill>
                <a:latin typeface="Arial"/>
                <a:ea typeface="Arial"/>
                <a:cs typeface="Arial"/>
              </a:defRPr>
            </a:lvl5pPr>
            <a:lvl6pPr algn="l">
              <a:defRPr sz="2400" b="1">
                <a:solidFill>
                  <a:srgbClr val="163139"/>
                </a:solidFill>
                <a:latin typeface="Arial"/>
                <a:ea typeface="Arial"/>
                <a:cs typeface="Arial"/>
              </a:defRPr>
            </a:lvl6pPr>
            <a:lvl7pPr algn="l">
              <a:defRPr sz="2400" b="1">
                <a:solidFill>
                  <a:srgbClr val="163139"/>
                </a:solidFill>
                <a:latin typeface="Arial"/>
                <a:ea typeface="Arial"/>
                <a:cs typeface="Arial"/>
              </a:defRPr>
            </a:lvl7pPr>
            <a:lvl8pPr algn="l">
              <a:defRPr sz="2400" b="1">
                <a:solidFill>
                  <a:srgbClr val="163139"/>
                </a:solidFill>
                <a:latin typeface="Arial"/>
                <a:ea typeface="Arial"/>
                <a:cs typeface="Arial"/>
              </a:defRPr>
            </a:lvl8pPr>
            <a:lvl9pPr algn="l">
              <a:defRPr sz="2400" b="1">
                <a:solidFill>
                  <a:srgbClr val="163139"/>
                </a:solidFill>
                <a:latin typeface="Arial"/>
                <a:ea typeface="Arial"/>
                <a:cs typeface="Arial"/>
              </a:defRPr>
            </a:lvl9pPr>
          </a:lstStyle>
          <a:p xmlns:a="http://schemas.openxmlformats.org/drawingml/2006/main">
            <a:pPr algn="l">
              <a:defRPr sz="2400" b="1">
                <a:solidFill>
                  <a:srgbClr val="163139"/>
                </a:solidFill>
                <a:latin typeface="Arial"/>
                <a:ea typeface="Arial"/>
                <a:cs typeface="Arial"/>
              </a:defRPr>
            </a:pPr>
            <a:r>
              <a:rPr sz="2400" b="1">
                <a:solidFill>
                  <a:srgbClr val="163139"/>
                </a:solidFill>
                <a:latin typeface="Arial"/>
                <a:ea typeface="Arial"/>
                <a:cs typeface="Arial"/>
              </a:rPr>
              <a:t>Add target-level evidence</a:t>
            </a:r>
          </a:p>
        </p:txBody>
      </p:sp>
      <p:sp>
        <p:nvSpPr>
          <p:cNvPr id="11" name="">
            <a:extLst xmlns:a="http://schemas.openxmlformats.org/drawingml/2006/main">
              <a:ext uri="{FF2B5EF4-FFF2-40B4-BE49-F238E27FC236}">
                <a16:creationId xmlns:a16="http://schemas.microsoft.com/office/drawing/2014/main" id="{128D3094-77CF-4E52-823C-5104B1339C9A}"/>
              </a:ext>
            </a:extLst>
          </p:cNvPr>
          <p:cNvSpPr>
            <a:spLocks xmlns:a="http://schemas.openxmlformats.org/drawingml/2006/main" noGrp="1"/>
          </p:cNvSpPr>
          <p:nvPr/>
        </p:nvSpPr>
        <p:spPr>
          <a:xfrm xmlns:a="http://schemas.openxmlformats.org/drawingml/2006/main">
            <a:off x="1562100" y="5095875"/>
            <a:ext cx="962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52666D"/>
                </a:solidFill>
                <a:latin typeface="Arial"/>
                <a:ea typeface="Arial"/>
                <a:cs typeface="Arial"/>
              </a:defRPr>
            </a:defPPr>
            <a:lvl1pPr algn="l">
              <a:defRPr sz="2025" b="0">
                <a:solidFill>
                  <a:srgbClr val="52666D"/>
                </a:solidFill>
                <a:latin typeface="Arial"/>
                <a:ea typeface="Arial"/>
                <a:cs typeface="Arial"/>
              </a:defRPr>
            </a:lvl1pPr>
            <a:lvl2pPr algn="l">
              <a:defRPr sz="2025" b="0">
                <a:solidFill>
                  <a:srgbClr val="52666D"/>
                </a:solidFill>
                <a:latin typeface="Arial"/>
                <a:ea typeface="Arial"/>
                <a:cs typeface="Arial"/>
              </a:defRPr>
            </a:lvl2pPr>
            <a:lvl3pPr algn="l">
              <a:defRPr sz="2025" b="0">
                <a:solidFill>
                  <a:srgbClr val="52666D"/>
                </a:solidFill>
                <a:latin typeface="Arial"/>
                <a:ea typeface="Arial"/>
                <a:cs typeface="Arial"/>
              </a:defRPr>
            </a:lvl3pPr>
            <a:lvl4pPr algn="l">
              <a:defRPr sz="2025" b="0">
                <a:solidFill>
                  <a:srgbClr val="52666D"/>
                </a:solidFill>
                <a:latin typeface="Arial"/>
                <a:ea typeface="Arial"/>
                <a:cs typeface="Arial"/>
              </a:defRPr>
            </a:lvl4pPr>
            <a:lvl5pPr algn="l">
              <a:defRPr sz="2025" b="0">
                <a:solidFill>
                  <a:srgbClr val="52666D"/>
                </a:solidFill>
                <a:latin typeface="Arial"/>
                <a:ea typeface="Arial"/>
                <a:cs typeface="Arial"/>
              </a:defRPr>
            </a:lvl5pPr>
            <a:lvl6pPr algn="l">
              <a:defRPr sz="2025" b="0">
                <a:solidFill>
                  <a:srgbClr val="52666D"/>
                </a:solidFill>
                <a:latin typeface="Arial"/>
                <a:ea typeface="Arial"/>
                <a:cs typeface="Arial"/>
              </a:defRPr>
            </a:lvl6pPr>
            <a:lvl7pPr algn="l">
              <a:defRPr sz="2025" b="0">
                <a:solidFill>
                  <a:srgbClr val="52666D"/>
                </a:solidFill>
                <a:latin typeface="Arial"/>
                <a:ea typeface="Arial"/>
                <a:cs typeface="Arial"/>
              </a:defRPr>
            </a:lvl7pPr>
            <a:lvl8pPr algn="l">
              <a:defRPr sz="2025" b="0">
                <a:solidFill>
                  <a:srgbClr val="52666D"/>
                </a:solidFill>
                <a:latin typeface="Arial"/>
                <a:ea typeface="Arial"/>
                <a:cs typeface="Arial"/>
              </a:defRPr>
            </a:lvl8pPr>
            <a:lvl9pPr algn="l">
              <a:defRPr sz="2025" b="0">
                <a:solidFill>
                  <a:srgbClr val="52666D"/>
                </a:solidFill>
                <a:latin typeface="Arial"/>
                <a:ea typeface="Arial"/>
                <a:cs typeface="Arial"/>
              </a:defRPr>
            </a:lvl9pPr>
          </a:lstStyle>
          <a:p xmlns:a="http://schemas.openxmlformats.org/drawingml/2006/main">
            <a:pPr algn="l">
              <a:defRPr sz="2025" b="0">
                <a:solidFill>
                  <a:srgbClr val="52666D"/>
                </a:solidFill>
                <a:latin typeface="Arial"/>
                <a:ea typeface="Arial"/>
                <a:cs typeface="Arial"/>
              </a:defRPr>
            </a:pPr>
            <a:r>
              <a:rPr sz="2025" b="0">
                <a:solidFill>
                  <a:srgbClr val="52666D"/>
                </a:solidFill>
                <a:latin typeface="Arial"/>
                <a:ea typeface="Arial"/>
                <a:cs typeface="Arial"/>
              </a:rPr>
              <a:t>Obtain reliable entity labels before span pooling or unseen-disease tests</a:t>
            </a:r>
          </a:p>
        </p:txBody>
      </p:sp>
    </p:spTree>
    <p:extLst>
      <p:ext uri="{BB962C8B-B14F-4D97-AF65-F5344CB8AC3E}">
        <p14:creationId xmlns:p14="http://schemas.microsoft.com/office/powerpoint/2010/main" val="10506401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2026-10-20T06:17:17.1150000Z</dcterms:created>
  <dcterms:modified xsi:type="dcterms:W3CDTF">2026-10-20T06:17:17.1150000Z</dcterms:modified>
</coreProperties>
</file>